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8288000" cy="10287000"/>
  <p:notesSz cx="6858000" cy="9144000"/>
  <p:embeddedFontLst>
    <p:embeddedFont>
      <p:font typeface="DG Jory" charset="1" panose="02000000000000000000"/>
      <p:regular r:id="rId17"/>
    </p:embeddedFont>
    <p:embeddedFont>
      <p:font typeface="League Spartan" charset="1" panose="00000800000000000000"/>
      <p:regular r:id="rId18"/>
    </p:embeddedFont>
    <p:embeddedFont>
      <p:font typeface="DG Jory Bold" charset="1" panose="02000000000000000000"/>
      <p:regular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3680067" y="-2511057"/>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5" id="5"/>
          <p:cNvSpPr txBox="true"/>
          <p:nvPr/>
        </p:nvSpPr>
        <p:spPr>
          <a:xfrm rot="0">
            <a:off x="10632087" y="7240802"/>
            <a:ext cx="7951692" cy="2676525"/>
          </a:xfrm>
          <a:prstGeom prst="rect">
            <a:avLst/>
          </a:prstGeom>
        </p:spPr>
        <p:txBody>
          <a:bodyPr anchor="t" rtlCol="false" tIns="0" lIns="0" bIns="0" rIns="0">
            <a:spAutoFit/>
          </a:bodyPr>
          <a:lstStyle/>
          <a:p>
            <a:pPr algn="l">
              <a:lnSpc>
                <a:spcPts val="4200"/>
              </a:lnSpc>
            </a:pPr>
            <a:r>
              <a:rPr lang="en-US" sz="3500">
                <a:solidFill>
                  <a:srgbClr val="000000"/>
                </a:solidFill>
                <a:latin typeface="DG Jory"/>
                <a:ea typeface="DG Jory"/>
                <a:cs typeface="DG Jory"/>
                <a:sym typeface="DG Jory"/>
              </a:rPr>
              <a:t>By </a:t>
            </a:r>
          </a:p>
          <a:p>
            <a:pPr algn="l">
              <a:lnSpc>
                <a:spcPts val="4200"/>
              </a:lnSpc>
            </a:pPr>
            <a:r>
              <a:rPr lang="en-US" sz="3500">
                <a:solidFill>
                  <a:srgbClr val="000000"/>
                </a:solidFill>
                <a:latin typeface="DG Jory"/>
                <a:ea typeface="DG Jory"/>
                <a:cs typeface="DG Jory"/>
                <a:sym typeface="DG Jory"/>
              </a:rPr>
              <a:t>P Prathyush Kumar [2023BCSE07AED246]</a:t>
            </a:r>
          </a:p>
          <a:p>
            <a:pPr algn="l">
              <a:lnSpc>
                <a:spcPts val="4200"/>
              </a:lnSpc>
            </a:pPr>
            <a:r>
              <a:rPr lang="en-US" sz="3500">
                <a:solidFill>
                  <a:srgbClr val="000000"/>
                </a:solidFill>
                <a:latin typeface="DG Jory"/>
                <a:ea typeface="DG Jory"/>
                <a:cs typeface="DG Jory"/>
                <a:sym typeface="DG Jory"/>
              </a:rPr>
              <a:t>Rahul Santosh T [2023BCSE07AED274]</a:t>
            </a:r>
          </a:p>
          <a:p>
            <a:pPr algn="l">
              <a:lnSpc>
                <a:spcPts val="4200"/>
              </a:lnSpc>
            </a:pPr>
            <a:r>
              <a:rPr lang="en-US" sz="3500">
                <a:solidFill>
                  <a:srgbClr val="000000"/>
                </a:solidFill>
                <a:latin typeface="DG Jory"/>
                <a:ea typeface="DG Jory"/>
                <a:cs typeface="DG Jory"/>
                <a:sym typeface="DG Jory"/>
              </a:rPr>
              <a:t>S Jeswin [2023BCSE07AED245]</a:t>
            </a:r>
          </a:p>
          <a:p>
            <a:pPr algn="l">
              <a:lnSpc>
                <a:spcPts val="4200"/>
              </a:lnSpc>
            </a:pPr>
            <a:r>
              <a:rPr lang="en-US" sz="3500">
                <a:solidFill>
                  <a:srgbClr val="000000"/>
                </a:solidFill>
                <a:latin typeface="DG Jory"/>
                <a:ea typeface="DG Jory"/>
                <a:cs typeface="DG Jory"/>
                <a:sym typeface="DG Jory"/>
              </a:rPr>
              <a:t>Krishna Hruday [2023BCSE07AED275]</a:t>
            </a:r>
          </a:p>
        </p:txBody>
      </p:sp>
      <p:sp>
        <p:nvSpPr>
          <p:cNvPr name="TextBox 6" id="6"/>
          <p:cNvSpPr txBox="true"/>
          <p:nvPr/>
        </p:nvSpPr>
        <p:spPr>
          <a:xfrm rot="0">
            <a:off x="4043841" y="3630669"/>
            <a:ext cx="10200318" cy="1266825"/>
          </a:xfrm>
          <a:prstGeom prst="rect">
            <a:avLst/>
          </a:prstGeom>
        </p:spPr>
        <p:txBody>
          <a:bodyPr anchor="t" rtlCol="false" tIns="0" lIns="0" bIns="0" rIns="0">
            <a:spAutoFit/>
          </a:bodyPr>
          <a:lstStyle/>
          <a:p>
            <a:pPr algn="ctr">
              <a:lnSpc>
                <a:spcPts val="10012"/>
              </a:lnSpc>
            </a:pPr>
            <a:r>
              <a:rPr lang="en-US" sz="8344">
                <a:solidFill>
                  <a:srgbClr val="000000"/>
                </a:solidFill>
                <a:latin typeface="League Spartan"/>
                <a:ea typeface="League Spartan"/>
                <a:cs typeface="League Spartan"/>
                <a:sym typeface="League Spartan"/>
              </a:rPr>
              <a:t>AI KINETIC TILES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4497566" y="713638"/>
            <a:ext cx="8197746" cy="1773322"/>
            <a:chOff x="0" y="0"/>
            <a:chExt cx="3757427" cy="812800"/>
          </a:xfrm>
        </p:grpSpPr>
        <p:sp>
          <p:nvSpPr>
            <p:cNvPr name="Freeform 7" id="7"/>
            <p:cNvSpPr/>
            <p:nvPr/>
          </p:nvSpPr>
          <p:spPr>
            <a:xfrm flipH="false" flipV="false" rot="0">
              <a:off x="0" y="0"/>
              <a:ext cx="3757427" cy="812800"/>
            </a:xfrm>
            <a:custGeom>
              <a:avLst/>
              <a:gdLst/>
              <a:ahLst/>
              <a:cxnLst/>
              <a:rect r="r" b="b" t="t" l="l"/>
              <a:pathLst>
                <a:path h="812800" w="3757427">
                  <a:moveTo>
                    <a:pt x="3757427" y="0"/>
                  </a:moveTo>
                  <a:lnTo>
                    <a:pt x="0" y="0"/>
                  </a:lnTo>
                  <a:lnTo>
                    <a:pt x="0" y="624840"/>
                  </a:lnTo>
                  <a:lnTo>
                    <a:pt x="157480" y="624840"/>
                  </a:lnTo>
                  <a:lnTo>
                    <a:pt x="157480" y="812800"/>
                  </a:lnTo>
                  <a:lnTo>
                    <a:pt x="463550" y="624840"/>
                  </a:lnTo>
                  <a:lnTo>
                    <a:pt x="3757427" y="624840"/>
                  </a:lnTo>
                  <a:lnTo>
                    <a:pt x="3757427" y="0"/>
                  </a:lnTo>
                  <a:close/>
                </a:path>
              </a:pathLst>
            </a:custGeom>
            <a:solidFill>
              <a:srgbClr val="9BDAE9"/>
            </a:solidFill>
            <a:ln cap="sq">
              <a:noFill/>
              <a:prstDash val="solid"/>
              <a:miter/>
            </a:ln>
          </p:spPr>
        </p:sp>
        <p:sp>
          <p:nvSpPr>
            <p:cNvPr name="TextBox 8" id="8"/>
            <p:cNvSpPr txBox="true"/>
            <p:nvPr/>
          </p:nvSpPr>
          <p:spPr>
            <a:xfrm>
              <a:off x="0" y="-47625"/>
              <a:ext cx="3757427"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4639750" y="855822"/>
            <a:ext cx="7930016" cy="1773322"/>
            <a:chOff x="0" y="0"/>
            <a:chExt cx="3634713" cy="812800"/>
          </a:xfrm>
        </p:grpSpPr>
        <p:sp>
          <p:nvSpPr>
            <p:cNvPr name="Freeform 10" id="10"/>
            <p:cNvSpPr/>
            <p:nvPr/>
          </p:nvSpPr>
          <p:spPr>
            <a:xfrm flipH="false" flipV="false" rot="0">
              <a:off x="0" y="0"/>
              <a:ext cx="3634713" cy="812800"/>
            </a:xfrm>
            <a:custGeom>
              <a:avLst/>
              <a:gdLst/>
              <a:ahLst/>
              <a:cxnLst/>
              <a:rect r="r" b="b" t="t" l="l"/>
              <a:pathLst>
                <a:path h="812800" w="3634713">
                  <a:moveTo>
                    <a:pt x="3634713" y="0"/>
                  </a:moveTo>
                  <a:lnTo>
                    <a:pt x="0" y="0"/>
                  </a:lnTo>
                  <a:lnTo>
                    <a:pt x="0" y="624840"/>
                  </a:lnTo>
                  <a:lnTo>
                    <a:pt x="157480" y="624840"/>
                  </a:lnTo>
                  <a:lnTo>
                    <a:pt x="157480" y="812800"/>
                  </a:lnTo>
                  <a:lnTo>
                    <a:pt x="463550" y="624840"/>
                  </a:lnTo>
                  <a:lnTo>
                    <a:pt x="3634713" y="624840"/>
                  </a:lnTo>
                  <a:lnTo>
                    <a:pt x="3634713" y="0"/>
                  </a:lnTo>
                  <a:close/>
                </a:path>
              </a:pathLst>
            </a:custGeom>
            <a:ln w="66675" cap="sq">
              <a:solidFill>
                <a:srgbClr val="56C3D0"/>
              </a:solidFill>
              <a:prstDash val="solid"/>
              <a:miter/>
            </a:ln>
          </p:spPr>
        </p:sp>
        <p:sp>
          <p:nvSpPr>
            <p:cNvPr name="TextBox 11" id="11"/>
            <p:cNvSpPr txBox="true"/>
            <p:nvPr/>
          </p:nvSpPr>
          <p:spPr>
            <a:xfrm>
              <a:off x="0" y="-47625"/>
              <a:ext cx="3634713" cy="6699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365749" y="3746613"/>
            <a:ext cx="12256718" cy="5511687"/>
          </a:xfrm>
          <a:prstGeom prst="rect">
            <a:avLst/>
          </a:prstGeom>
        </p:spPr>
        <p:txBody>
          <a:bodyPr anchor="t" rtlCol="false" tIns="0" lIns="0" bIns="0" rIns="0">
            <a:spAutoFit/>
          </a:bodyPr>
          <a:lstStyle/>
          <a:p>
            <a:pPr algn="l">
              <a:lnSpc>
                <a:spcPts val="4381"/>
              </a:lnSpc>
            </a:pPr>
            <a:r>
              <a:rPr lang="en-US" sz="3129">
                <a:solidFill>
                  <a:srgbClr val="000000"/>
                </a:solidFill>
                <a:latin typeface="DG Jory"/>
                <a:ea typeface="DG Jory"/>
                <a:cs typeface="DG Jory"/>
                <a:sym typeface="DG Jory"/>
              </a:rPr>
              <a:t>Modern buildings and public spaces waste large amounts of human kinetic energy generated from walking.</a:t>
            </a:r>
          </a:p>
          <a:p>
            <a:pPr algn="l">
              <a:lnSpc>
                <a:spcPts val="4381"/>
              </a:lnSpc>
            </a:pPr>
            <a:r>
              <a:rPr lang="en-US" sz="3129">
                <a:solidFill>
                  <a:srgbClr val="000000"/>
                </a:solidFill>
                <a:latin typeface="DG Jory"/>
                <a:ea typeface="DG Jory"/>
                <a:cs typeface="DG Jory"/>
                <a:sym typeface="DG Jory"/>
              </a:rPr>
              <a:t>Problems:</a:t>
            </a:r>
          </a:p>
          <a:p>
            <a:pPr algn="l" marL="675648" indent="-337824" lvl="1">
              <a:lnSpc>
                <a:spcPts val="4381"/>
              </a:lnSpc>
              <a:buFont typeface="Arial"/>
              <a:buChar char="•"/>
            </a:pPr>
            <a:r>
              <a:rPr lang="en-US" sz="3129">
                <a:solidFill>
                  <a:srgbClr val="000000"/>
                </a:solidFill>
                <a:latin typeface="DG Jory"/>
                <a:ea typeface="DG Jory"/>
                <a:cs typeface="DG Jory"/>
                <a:sym typeface="DG Jory"/>
              </a:rPr>
              <a:t>Footstep energy is not utilized</a:t>
            </a:r>
          </a:p>
          <a:p>
            <a:pPr algn="l" marL="675648" indent="-337824" lvl="1">
              <a:lnSpc>
                <a:spcPts val="4381"/>
              </a:lnSpc>
              <a:buFont typeface="Arial"/>
              <a:buChar char="•"/>
            </a:pPr>
            <a:r>
              <a:rPr lang="en-US" sz="3129">
                <a:solidFill>
                  <a:srgbClr val="000000"/>
                </a:solidFill>
                <a:latin typeface="DG Jory"/>
                <a:ea typeface="DG Jory"/>
                <a:cs typeface="DG Jory"/>
                <a:sym typeface="DG Jory"/>
              </a:rPr>
              <a:t>Growing demand for sustainable energy</a:t>
            </a:r>
          </a:p>
          <a:p>
            <a:pPr algn="l" marL="675648" indent="-337824" lvl="1">
              <a:lnSpc>
                <a:spcPts val="4381"/>
              </a:lnSpc>
              <a:buFont typeface="Arial"/>
              <a:buChar char="•"/>
            </a:pPr>
            <a:r>
              <a:rPr lang="en-US" sz="3129">
                <a:solidFill>
                  <a:srgbClr val="000000"/>
                </a:solidFill>
                <a:latin typeface="DG Jory"/>
                <a:ea typeface="DG Jory"/>
                <a:cs typeface="DG Jory"/>
                <a:sym typeface="DG Jory"/>
              </a:rPr>
              <a:t>Lack of real-time monitoring of small energy sources</a:t>
            </a:r>
          </a:p>
          <a:p>
            <a:pPr algn="l">
              <a:lnSpc>
                <a:spcPts val="4381"/>
              </a:lnSpc>
            </a:pPr>
            <a:r>
              <a:rPr lang="en-US" sz="3129">
                <a:solidFill>
                  <a:srgbClr val="000000"/>
                </a:solidFill>
                <a:latin typeface="DG Jory"/>
                <a:ea typeface="DG Jory"/>
                <a:cs typeface="DG Jory"/>
                <a:sym typeface="DG Jory"/>
              </a:rPr>
              <a:t>Goal:</a:t>
            </a:r>
          </a:p>
          <a:p>
            <a:pPr algn="l">
              <a:lnSpc>
                <a:spcPts val="4381"/>
              </a:lnSpc>
            </a:pPr>
            <a:r>
              <a:rPr lang="en-US" sz="3129">
                <a:solidFill>
                  <a:srgbClr val="000000"/>
                </a:solidFill>
                <a:latin typeface="DG Jory"/>
                <a:ea typeface="DG Jory"/>
                <a:cs typeface="DG Jory"/>
                <a:sym typeface="DG Jory"/>
              </a:rPr>
              <a:t> To capture and monitor energy generated from human footsteps using smart tiles integrated with Artificial Intelligence and IoT.</a:t>
            </a:r>
          </a:p>
          <a:p>
            <a:pPr algn="l">
              <a:lnSpc>
                <a:spcPts val="4381"/>
              </a:lnSpc>
            </a:pPr>
          </a:p>
        </p:txBody>
      </p:sp>
      <p:sp>
        <p:nvSpPr>
          <p:cNvPr name="TextBox 13" id="13"/>
          <p:cNvSpPr txBox="true"/>
          <p:nvPr/>
        </p:nvSpPr>
        <p:spPr>
          <a:xfrm rot="0">
            <a:off x="4606126" y="1226000"/>
            <a:ext cx="7963640" cy="748614"/>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PROBLEM STATEMENT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4899646" y="0"/>
            <a:ext cx="9287959" cy="8409825"/>
          </a:xfrm>
          <a:custGeom>
            <a:avLst/>
            <a:gdLst/>
            <a:ahLst/>
            <a:cxnLst/>
            <a:rect r="r" b="b" t="t" l="l"/>
            <a:pathLst>
              <a:path h="8409825" w="9287959">
                <a:moveTo>
                  <a:pt x="9287959" y="8409825"/>
                </a:moveTo>
                <a:lnTo>
                  <a:pt x="0" y="8409825"/>
                </a:lnTo>
                <a:lnTo>
                  <a:pt x="0" y="0"/>
                </a:lnTo>
                <a:lnTo>
                  <a:pt x="9287959" y="0"/>
                </a:lnTo>
                <a:lnTo>
                  <a:pt x="9287959" y="840982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4" id="4"/>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grpSp>
        <p:nvGrpSpPr>
          <p:cNvPr name="Group 5" id="5"/>
          <p:cNvGrpSpPr/>
          <p:nvPr/>
        </p:nvGrpSpPr>
        <p:grpSpPr>
          <a:xfrm rot="0">
            <a:off x="401830" y="265346"/>
            <a:ext cx="5994124" cy="1773322"/>
            <a:chOff x="0" y="0"/>
            <a:chExt cx="2747400" cy="812800"/>
          </a:xfrm>
        </p:grpSpPr>
        <p:sp>
          <p:nvSpPr>
            <p:cNvPr name="Freeform 6" id="6"/>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7" id="7"/>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44013" y="407530"/>
            <a:ext cx="5994124" cy="1773322"/>
            <a:chOff x="0" y="0"/>
            <a:chExt cx="2747400" cy="812800"/>
          </a:xfrm>
        </p:grpSpPr>
        <p:sp>
          <p:nvSpPr>
            <p:cNvPr name="Freeform 9" id="9"/>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ln w="66675" cap="sq">
              <a:solidFill>
                <a:srgbClr val="56C3D0"/>
              </a:solidFill>
              <a:prstDash val="solid"/>
              <a:miter/>
            </a:ln>
          </p:spPr>
        </p:sp>
        <p:sp>
          <p:nvSpPr>
            <p:cNvPr name="TextBox 10" id="10"/>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8546458" y="1187300"/>
            <a:ext cx="4882567" cy="851368"/>
            <a:chOff x="0" y="0"/>
            <a:chExt cx="1285944" cy="224229"/>
          </a:xfrm>
        </p:grpSpPr>
        <p:sp>
          <p:nvSpPr>
            <p:cNvPr name="Freeform 12" id="12"/>
            <p:cNvSpPr/>
            <p:nvPr/>
          </p:nvSpPr>
          <p:spPr>
            <a:xfrm flipH="false" flipV="false" rot="0">
              <a:off x="0" y="0"/>
              <a:ext cx="1285944" cy="224229"/>
            </a:xfrm>
            <a:custGeom>
              <a:avLst/>
              <a:gdLst/>
              <a:ahLst/>
              <a:cxnLst/>
              <a:rect r="r" b="b" t="t" l="l"/>
              <a:pathLst>
                <a:path h="224229" w="1285944">
                  <a:moveTo>
                    <a:pt x="0" y="0"/>
                  </a:moveTo>
                  <a:lnTo>
                    <a:pt x="1285944" y="0"/>
                  </a:lnTo>
                  <a:lnTo>
                    <a:pt x="1285944" y="224229"/>
                  </a:lnTo>
                  <a:lnTo>
                    <a:pt x="0" y="224229"/>
                  </a:lnTo>
                  <a:close/>
                </a:path>
              </a:pathLst>
            </a:custGeom>
            <a:solidFill>
              <a:srgbClr val="9BDAE9">
                <a:alpha val="49804"/>
              </a:srgbClr>
            </a:solidFill>
          </p:spPr>
        </p:sp>
        <p:sp>
          <p:nvSpPr>
            <p:cNvPr name="TextBox 13" id="13"/>
            <p:cNvSpPr txBox="true"/>
            <p:nvPr/>
          </p:nvSpPr>
          <p:spPr>
            <a:xfrm>
              <a:off x="0" y="-47625"/>
              <a:ext cx="1285944" cy="271854"/>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8546458" y="2303566"/>
            <a:ext cx="8493230" cy="1856504"/>
          </a:xfrm>
          <a:prstGeom prst="rect">
            <a:avLst/>
          </a:prstGeom>
        </p:spPr>
        <p:txBody>
          <a:bodyPr anchor="t" rtlCol="false" tIns="0" lIns="0" bIns="0" rIns="0">
            <a:spAutoFit/>
          </a:bodyPr>
          <a:lstStyle/>
          <a:p>
            <a:pPr algn="l">
              <a:lnSpc>
                <a:spcPts val="3722"/>
              </a:lnSpc>
            </a:pPr>
            <a:r>
              <a:rPr lang="en-US" sz="2659">
                <a:solidFill>
                  <a:srgbClr val="000000"/>
                </a:solidFill>
                <a:latin typeface="DG Jory"/>
                <a:ea typeface="DG Jory"/>
                <a:cs typeface="DG Jory"/>
                <a:sym typeface="DG Jory"/>
              </a:rPr>
              <a:t>S</a:t>
            </a:r>
            <a:r>
              <a:rPr lang="en-US" sz="2659">
                <a:solidFill>
                  <a:srgbClr val="000000"/>
                </a:solidFill>
                <a:latin typeface="DG Jory"/>
                <a:ea typeface="DG Jory"/>
                <a:cs typeface="DG Jory"/>
                <a:sym typeface="DG Jory"/>
              </a:rPr>
              <a:t>everal systems have been developed to generate electricity from mechanical pressure, vibrations, or human movement. These systems attempt to capture otherwise wasted kinetic energy and convert it into usable electrical power.</a:t>
            </a:r>
          </a:p>
        </p:txBody>
      </p:sp>
      <p:sp>
        <p:nvSpPr>
          <p:cNvPr name="TextBox 15" id="15"/>
          <p:cNvSpPr txBox="true"/>
          <p:nvPr/>
        </p:nvSpPr>
        <p:spPr>
          <a:xfrm rot="0">
            <a:off x="816505" y="3445136"/>
            <a:ext cx="9813500" cy="6848843"/>
          </a:xfrm>
          <a:prstGeom prst="rect">
            <a:avLst/>
          </a:prstGeom>
        </p:spPr>
        <p:txBody>
          <a:bodyPr anchor="t" rtlCol="false" tIns="0" lIns="0" bIns="0" rIns="0">
            <a:spAutoFit/>
          </a:bodyPr>
          <a:lstStyle/>
          <a:p>
            <a:pPr algn="l">
              <a:lnSpc>
                <a:spcPts val="3654"/>
              </a:lnSpc>
            </a:pPr>
            <a:r>
              <a:rPr lang="en-US" sz="2610" b="true">
                <a:solidFill>
                  <a:srgbClr val="000000"/>
                </a:solidFill>
                <a:latin typeface="DG Jory Bold"/>
                <a:ea typeface="DG Jory Bold"/>
                <a:cs typeface="DG Jory Bold"/>
                <a:sym typeface="DG Jory Bold"/>
              </a:rPr>
              <a:t>Examples </a:t>
            </a:r>
            <a:r>
              <a:rPr lang="en-US" sz="2610" b="true">
                <a:solidFill>
                  <a:srgbClr val="000000"/>
                </a:solidFill>
                <a:latin typeface="DG Jory Bold"/>
                <a:ea typeface="DG Jory Bold"/>
                <a:cs typeface="DG Jory Bold"/>
                <a:sym typeface="DG Jory Bold"/>
              </a:rPr>
              <a:t>of existing solutions include:</a:t>
            </a:r>
          </a:p>
          <a:p>
            <a:pPr algn="l" marL="563606" indent="-281803" lvl="1">
              <a:lnSpc>
                <a:spcPts val="3654"/>
              </a:lnSpc>
              <a:buFont typeface="Arial"/>
              <a:buChar char="•"/>
            </a:pPr>
            <a:r>
              <a:rPr lang="en-US" sz="2610">
                <a:solidFill>
                  <a:srgbClr val="000000"/>
                </a:solidFill>
                <a:latin typeface="DG Jory"/>
                <a:ea typeface="DG Jory"/>
                <a:cs typeface="DG Jory"/>
                <a:sym typeface="DG Jory"/>
              </a:rPr>
              <a:t>Piezoelectric floor tiles</a:t>
            </a:r>
          </a:p>
          <a:p>
            <a:pPr algn="l" marL="563606" indent="-281803" lvl="1">
              <a:lnSpc>
                <a:spcPts val="3654"/>
              </a:lnSpc>
              <a:buFont typeface="Arial"/>
              <a:buChar char="•"/>
            </a:pPr>
            <a:r>
              <a:rPr lang="en-US" sz="2610">
                <a:solidFill>
                  <a:srgbClr val="000000"/>
                </a:solidFill>
                <a:latin typeface="DG Jory"/>
                <a:ea typeface="DG Jory"/>
                <a:cs typeface="DG Jory"/>
                <a:sym typeface="DG Jory"/>
              </a:rPr>
              <a:t>Electromagnetic energy harvesting systems</a:t>
            </a:r>
          </a:p>
          <a:p>
            <a:pPr algn="l" marL="563606" indent="-281803" lvl="1">
              <a:lnSpc>
                <a:spcPts val="3654"/>
              </a:lnSpc>
              <a:buFont typeface="Arial"/>
              <a:buChar char="•"/>
            </a:pPr>
            <a:r>
              <a:rPr lang="en-US" sz="2610">
                <a:solidFill>
                  <a:srgbClr val="000000"/>
                </a:solidFill>
                <a:latin typeface="DG Jory"/>
                <a:ea typeface="DG Jory"/>
                <a:cs typeface="DG Jory"/>
                <a:sym typeface="DG Jory"/>
              </a:rPr>
              <a:t>Mechanical pressure-based generators</a:t>
            </a:r>
          </a:p>
          <a:p>
            <a:pPr algn="l">
              <a:lnSpc>
                <a:spcPts val="3654"/>
              </a:lnSpc>
            </a:pPr>
            <a:r>
              <a:rPr lang="en-US" sz="2610">
                <a:solidFill>
                  <a:srgbClr val="000000"/>
                </a:solidFill>
                <a:latin typeface="DG Jory"/>
                <a:ea typeface="DG Jory"/>
                <a:cs typeface="DG Jory"/>
                <a:sym typeface="DG Jory"/>
              </a:rPr>
              <a:t>While these systems are capable of producing small amounts of electrical energy, they have certain limitations.</a:t>
            </a:r>
          </a:p>
          <a:p>
            <a:pPr algn="l">
              <a:lnSpc>
                <a:spcPts val="3654"/>
              </a:lnSpc>
            </a:pPr>
          </a:p>
          <a:p>
            <a:pPr algn="l">
              <a:lnSpc>
                <a:spcPts val="3654"/>
              </a:lnSpc>
            </a:pPr>
            <a:r>
              <a:rPr lang="en-US" sz="2610" b="true">
                <a:solidFill>
                  <a:srgbClr val="000000"/>
                </a:solidFill>
                <a:latin typeface="DG Jory Bold"/>
                <a:ea typeface="DG Jory Bold"/>
                <a:cs typeface="DG Jory Bold"/>
                <a:sym typeface="DG Jory Bold"/>
              </a:rPr>
              <a:t>Limitations of Existing Systems:</a:t>
            </a:r>
          </a:p>
          <a:p>
            <a:pPr algn="l" marL="563606" indent="-281803" lvl="1">
              <a:lnSpc>
                <a:spcPts val="3654"/>
              </a:lnSpc>
              <a:buFont typeface="Arial"/>
              <a:buChar char="•"/>
            </a:pPr>
            <a:r>
              <a:rPr lang="en-US" sz="2610">
                <a:solidFill>
                  <a:srgbClr val="000000"/>
                </a:solidFill>
                <a:latin typeface="DG Jory"/>
                <a:ea typeface="DG Jory"/>
                <a:cs typeface="DG Jory"/>
                <a:sym typeface="DG Jory"/>
              </a:rPr>
              <a:t>Most systems only store energy without monitoring it.</a:t>
            </a:r>
          </a:p>
          <a:p>
            <a:pPr algn="l" marL="563606" indent="-281803" lvl="1">
              <a:lnSpc>
                <a:spcPts val="3654"/>
              </a:lnSpc>
              <a:buFont typeface="Arial"/>
              <a:buChar char="•"/>
            </a:pPr>
            <a:r>
              <a:rPr lang="en-US" sz="2610">
                <a:solidFill>
                  <a:srgbClr val="000000"/>
                </a:solidFill>
                <a:latin typeface="DG Jory"/>
                <a:ea typeface="DG Jory"/>
                <a:cs typeface="DG Jory"/>
                <a:sym typeface="DG Jory"/>
              </a:rPr>
              <a:t>Lack of real-time data visualization.</a:t>
            </a:r>
          </a:p>
          <a:p>
            <a:pPr algn="l" marL="563606" indent="-281803" lvl="1">
              <a:lnSpc>
                <a:spcPts val="3654"/>
              </a:lnSpc>
              <a:buFont typeface="Arial"/>
              <a:buChar char="•"/>
            </a:pPr>
            <a:r>
              <a:rPr lang="en-US" sz="2610">
                <a:solidFill>
                  <a:srgbClr val="000000"/>
                </a:solidFill>
                <a:latin typeface="DG Jory"/>
                <a:ea typeface="DG Jory"/>
                <a:cs typeface="DG Jory"/>
                <a:sym typeface="DG Jory"/>
              </a:rPr>
              <a:t>Limited integration with IoT technologies.</a:t>
            </a:r>
          </a:p>
          <a:p>
            <a:pPr algn="l" marL="563606" indent="-281803" lvl="1">
              <a:lnSpc>
                <a:spcPts val="3654"/>
              </a:lnSpc>
              <a:buFont typeface="Arial"/>
              <a:buChar char="•"/>
            </a:pPr>
            <a:r>
              <a:rPr lang="en-US" sz="2610">
                <a:solidFill>
                  <a:srgbClr val="000000"/>
                </a:solidFill>
                <a:latin typeface="DG Jory"/>
                <a:ea typeface="DG Jory"/>
                <a:cs typeface="DG Jory"/>
                <a:sym typeface="DG Jory"/>
              </a:rPr>
              <a:t>prevention of overcharging </a:t>
            </a:r>
          </a:p>
          <a:p>
            <a:pPr algn="l">
              <a:lnSpc>
                <a:spcPts val="3654"/>
              </a:lnSpc>
            </a:pPr>
            <a:r>
              <a:rPr lang="en-US" sz="2610">
                <a:solidFill>
                  <a:srgbClr val="000000"/>
                </a:solidFill>
                <a:latin typeface="DG Jory"/>
                <a:ea typeface="DG Jory"/>
                <a:cs typeface="DG Jory"/>
                <a:sym typeface="DG Jory"/>
              </a:rPr>
              <a:t>These limitations highlight the need for a smarter and more connected energy harvesting solution.</a:t>
            </a:r>
          </a:p>
          <a:p>
            <a:pPr algn="l">
              <a:lnSpc>
                <a:spcPts val="3654"/>
              </a:lnSpc>
            </a:pPr>
          </a:p>
        </p:txBody>
      </p:sp>
      <p:sp>
        <p:nvSpPr>
          <p:cNvPr name="TextBox 16" id="16"/>
          <p:cNvSpPr txBox="true"/>
          <p:nvPr/>
        </p:nvSpPr>
        <p:spPr>
          <a:xfrm rot="0">
            <a:off x="8546458" y="1315527"/>
            <a:ext cx="4740383" cy="537764"/>
          </a:xfrm>
          <a:prstGeom prst="rect">
            <a:avLst/>
          </a:prstGeom>
        </p:spPr>
        <p:txBody>
          <a:bodyPr anchor="t" rtlCol="false" tIns="0" lIns="0" bIns="0" rIns="0">
            <a:spAutoFit/>
          </a:bodyPr>
          <a:lstStyle/>
          <a:p>
            <a:pPr algn="ctr">
              <a:lnSpc>
                <a:spcPts val="4479"/>
              </a:lnSpc>
            </a:pPr>
            <a:r>
              <a:rPr lang="en-US" sz="3199">
                <a:solidFill>
                  <a:srgbClr val="000000"/>
                </a:solidFill>
                <a:latin typeface="League Spartan"/>
                <a:ea typeface="League Spartan"/>
                <a:cs typeface="League Spartan"/>
                <a:sym typeface="League Spartan"/>
              </a:rPr>
              <a:t>GENERAL OVERVIEW</a:t>
            </a:r>
          </a:p>
        </p:txBody>
      </p:sp>
      <p:sp>
        <p:nvSpPr>
          <p:cNvPr name="TextBox 17" id="17"/>
          <p:cNvSpPr txBox="true"/>
          <p:nvPr/>
        </p:nvSpPr>
        <p:spPr>
          <a:xfrm rot="0">
            <a:off x="510390" y="777708"/>
            <a:ext cx="6027748" cy="748614"/>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EXISTING SYSTEM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471818" y="1890920"/>
            <a:ext cx="7666758" cy="6990179"/>
            <a:chOff x="0" y="0"/>
            <a:chExt cx="2019228" cy="1841035"/>
          </a:xfrm>
        </p:grpSpPr>
        <p:sp>
          <p:nvSpPr>
            <p:cNvPr name="Freeform 4" id="4"/>
            <p:cNvSpPr/>
            <p:nvPr/>
          </p:nvSpPr>
          <p:spPr>
            <a:xfrm flipH="false" flipV="false" rot="0">
              <a:off x="0" y="0"/>
              <a:ext cx="2019228" cy="1841035"/>
            </a:xfrm>
            <a:custGeom>
              <a:avLst/>
              <a:gdLst/>
              <a:ahLst/>
              <a:cxnLst/>
              <a:rect r="r" b="b" t="t" l="l"/>
              <a:pathLst>
                <a:path h="1841035" w="2019228">
                  <a:moveTo>
                    <a:pt x="0" y="0"/>
                  </a:moveTo>
                  <a:lnTo>
                    <a:pt x="2019228" y="0"/>
                  </a:lnTo>
                  <a:lnTo>
                    <a:pt x="2019228" y="1841035"/>
                  </a:lnTo>
                  <a:lnTo>
                    <a:pt x="0" y="1841035"/>
                  </a:lnTo>
                  <a:close/>
                </a:path>
              </a:pathLst>
            </a:custGeom>
            <a:ln w="38100" cap="sq">
              <a:solidFill>
                <a:srgbClr val="000000">
                  <a:alpha val="49804"/>
                </a:srgbClr>
              </a:solidFill>
              <a:prstDash val="solid"/>
              <a:miter/>
            </a:ln>
          </p:spPr>
        </p:sp>
        <p:sp>
          <p:nvSpPr>
            <p:cNvPr name="TextBox 5" id="5"/>
            <p:cNvSpPr txBox="true"/>
            <p:nvPr/>
          </p:nvSpPr>
          <p:spPr>
            <a:xfrm>
              <a:off x="0" y="-47625"/>
              <a:ext cx="2019228" cy="1888660"/>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9447602" y="2745149"/>
            <a:ext cx="6267276" cy="6135950"/>
            <a:chOff x="0" y="0"/>
            <a:chExt cx="1650641" cy="1616053"/>
          </a:xfrm>
        </p:grpSpPr>
        <p:sp>
          <p:nvSpPr>
            <p:cNvPr name="Freeform 7" id="7"/>
            <p:cNvSpPr/>
            <p:nvPr/>
          </p:nvSpPr>
          <p:spPr>
            <a:xfrm flipH="false" flipV="false" rot="0">
              <a:off x="0" y="0"/>
              <a:ext cx="1650641" cy="1616053"/>
            </a:xfrm>
            <a:custGeom>
              <a:avLst/>
              <a:gdLst/>
              <a:ahLst/>
              <a:cxnLst/>
              <a:rect r="r" b="b" t="t" l="l"/>
              <a:pathLst>
                <a:path h="1616053" w="1650641">
                  <a:moveTo>
                    <a:pt x="0" y="0"/>
                  </a:moveTo>
                  <a:lnTo>
                    <a:pt x="1650641" y="0"/>
                  </a:lnTo>
                  <a:lnTo>
                    <a:pt x="1650641" y="1616053"/>
                  </a:lnTo>
                  <a:lnTo>
                    <a:pt x="0" y="1616053"/>
                  </a:lnTo>
                  <a:close/>
                </a:path>
              </a:pathLst>
            </a:custGeom>
            <a:ln w="38100" cap="sq">
              <a:solidFill>
                <a:srgbClr val="000000">
                  <a:alpha val="49804"/>
                </a:srgbClr>
              </a:solidFill>
              <a:prstDash val="solid"/>
              <a:miter/>
            </a:ln>
          </p:spPr>
        </p:sp>
        <p:sp>
          <p:nvSpPr>
            <p:cNvPr name="TextBox 8" id="8"/>
            <p:cNvSpPr txBox="true"/>
            <p:nvPr/>
          </p:nvSpPr>
          <p:spPr>
            <a:xfrm>
              <a:off x="0" y="-47625"/>
              <a:ext cx="1650641" cy="1663678"/>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true" rot="0">
            <a:off x="13724635"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10" id="10"/>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11" id="11"/>
          <p:cNvSpPr/>
          <p:nvPr/>
        </p:nvSpPr>
        <p:spPr>
          <a:xfrm flipH="true" flipV="true" rot="0">
            <a:off x="-4930459" y="-2359044"/>
            <a:ext cx="7360133" cy="6664266"/>
          </a:xfrm>
          <a:custGeom>
            <a:avLst/>
            <a:gdLst/>
            <a:ahLst/>
            <a:cxnLst/>
            <a:rect r="r" b="b" t="t" l="l"/>
            <a:pathLst>
              <a:path h="6664266" w="7360133">
                <a:moveTo>
                  <a:pt x="7360133" y="6664267"/>
                </a:moveTo>
                <a:lnTo>
                  <a:pt x="0" y="6664267"/>
                </a:lnTo>
                <a:lnTo>
                  <a:pt x="0" y="0"/>
                </a:lnTo>
                <a:lnTo>
                  <a:pt x="7360133" y="0"/>
                </a:lnTo>
                <a:lnTo>
                  <a:pt x="7360133" y="6664267"/>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TextBox 12" id="12"/>
          <p:cNvSpPr txBox="true"/>
          <p:nvPr/>
        </p:nvSpPr>
        <p:spPr>
          <a:xfrm rot="0">
            <a:off x="1638217" y="2395624"/>
            <a:ext cx="7333960" cy="6949397"/>
          </a:xfrm>
          <a:prstGeom prst="rect">
            <a:avLst/>
          </a:prstGeom>
        </p:spPr>
        <p:txBody>
          <a:bodyPr anchor="t" rtlCol="false" tIns="0" lIns="0" bIns="0" rIns="0">
            <a:spAutoFit/>
          </a:bodyPr>
          <a:lstStyle/>
          <a:p>
            <a:pPr algn="ctr">
              <a:lnSpc>
                <a:spcPts val="3669"/>
              </a:lnSpc>
            </a:pPr>
            <a:r>
              <a:rPr lang="en-US" sz="2621">
                <a:solidFill>
                  <a:srgbClr val="000000"/>
                </a:solidFill>
                <a:latin typeface="DG Jory"/>
                <a:ea typeface="DG Jory"/>
                <a:cs typeface="DG Jory"/>
                <a:sym typeface="DG Jory"/>
              </a:rPr>
              <a:t>The proposed system introduces a smart energy harvesting tile integrated with an IoT monitoring platform.</a:t>
            </a:r>
          </a:p>
          <a:p>
            <a:pPr algn="ctr">
              <a:lnSpc>
                <a:spcPts val="3669"/>
              </a:lnSpc>
            </a:pPr>
            <a:r>
              <a:rPr lang="en-US" sz="2621">
                <a:solidFill>
                  <a:srgbClr val="000000"/>
                </a:solidFill>
                <a:latin typeface="DG Jory"/>
                <a:ea typeface="DG Jory"/>
                <a:cs typeface="DG Jory"/>
                <a:sym typeface="DG Jory"/>
              </a:rPr>
              <a:t>In this system, when a person steps on the tile, mechanical pressure is converted into electrical energy. This generated voltage is then measured using the ESP32 microcontroller.</a:t>
            </a:r>
          </a:p>
          <a:p>
            <a:pPr algn="ctr">
              <a:lnSpc>
                <a:spcPts val="3669"/>
              </a:lnSpc>
            </a:pPr>
            <a:r>
              <a:rPr lang="en-US" sz="2621">
                <a:solidFill>
                  <a:srgbClr val="000000"/>
                </a:solidFill>
                <a:latin typeface="DG Jory"/>
                <a:ea typeface="DG Jory"/>
                <a:cs typeface="DG Jory"/>
                <a:sym typeface="DG Jory"/>
              </a:rPr>
              <a:t>The ESP32 processes the voltage signal and transmits the data through WiFi to a web server. The web interface displays the energy data in real time, allowing users to monitor the generated voltage and analyze system performance as well as cut the circuit to prevent overcharging.</a:t>
            </a:r>
          </a:p>
          <a:p>
            <a:pPr algn="ctr">
              <a:lnSpc>
                <a:spcPts val="3669"/>
              </a:lnSpc>
            </a:pPr>
          </a:p>
          <a:p>
            <a:pPr algn="ctr">
              <a:lnSpc>
                <a:spcPts val="3669"/>
              </a:lnSpc>
            </a:pPr>
          </a:p>
        </p:txBody>
      </p:sp>
      <p:sp>
        <p:nvSpPr>
          <p:cNvPr name="TextBox 13" id="13"/>
          <p:cNvSpPr txBox="true"/>
          <p:nvPr/>
        </p:nvSpPr>
        <p:spPr>
          <a:xfrm rot="0">
            <a:off x="9664326" y="3351469"/>
            <a:ext cx="5833828" cy="4067882"/>
          </a:xfrm>
          <a:prstGeom prst="rect">
            <a:avLst/>
          </a:prstGeom>
        </p:spPr>
        <p:txBody>
          <a:bodyPr anchor="t" rtlCol="false" tIns="0" lIns="0" bIns="0" rIns="0">
            <a:spAutoFit/>
          </a:bodyPr>
          <a:lstStyle/>
          <a:p>
            <a:pPr algn="ctr">
              <a:lnSpc>
                <a:spcPts val="4371"/>
              </a:lnSpc>
            </a:pPr>
            <a:r>
              <a:rPr lang="en-US" sz="3122" b="true">
                <a:solidFill>
                  <a:srgbClr val="000000"/>
                </a:solidFill>
                <a:latin typeface="DG Jory Bold"/>
                <a:ea typeface="DG Jory Bold"/>
                <a:cs typeface="DG Jory Bold"/>
                <a:sym typeface="DG Jory Bold"/>
              </a:rPr>
              <a:t>Advantages of the Proposed System:</a:t>
            </a:r>
          </a:p>
          <a:p>
            <a:pPr algn="l" marL="609303" indent="-304651" lvl="1">
              <a:lnSpc>
                <a:spcPts val="3951"/>
              </a:lnSpc>
              <a:buFont typeface="Arial"/>
              <a:buChar char="•"/>
            </a:pPr>
            <a:r>
              <a:rPr lang="en-US" sz="2822">
                <a:solidFill>
                  <a:srgbClr val="000000"/>
                </a:solidFill>
                <a:latin typeface="DG Jory"/>
                <a:ea typeface="DG Jory"/>
                <a:cs typeface="DG Jory"/>
                <a:sym typeface="DG Jory"/>
              </a:rPr>
              <a:t>Real-time energy monitoring</a:t>
            </a:r>
          </a:p>
          <a:p>
            <a:pPr algn="l" marL="609303" indent="-304651" lvl="1">
              <a:lnSpc>
                <a:spcPts val="3951"/>
              </a:lnSpc>
              <a:buFont typeface="Arial"/>
              <a:buChar char="•"/>
            </a:pPr>
            <a:r>
              <a:rPr lang="en-US" sz="2822">
                <a:solidFill>
                  <a:srgbClr val="000000"/>
                </a:solidFill>
                <a:latin typeface="DG Jory"/>
                <a:ea typeface="DG Jory"/>
                <a:cs typeface="DG Jory"/>
                <a:sym typeface="DG Jory"/>
              </a:rPr>
              <a:t>Low-cost and compact system design</a:t>
            </a:r>
          </a:p>
          <a:p>
            <a:pPr algn="l" marL="609303" indent="-304651" lvl="1">
              <a:lnSpc>
                <a:spcPts val="3951"/>
              </a:lnSpc>
              <a:buFont typeface="Arial"/>
              <a:buChar char="•"/>
            </a:pPr>
            <a:r>
              <a:rPr lang="en-US" sz="2822">
                <a:solidFill>
                  <a:srgbClr val="000000"/>
                </a:solidFill>
                <a:latin typeface="DG Jory"/>
                <a:ea typeface="DG Jory"/>
                <a:cs typeface="DG Jory"/>
                <a:sym typeface="DG Jory"/>
              </a:rPr>
              <a:t>Wireless data transmission</a:t>
            </a:r>
          </a:p>
          <a:p>
            <a:pPr algn="l" marL="609303" indent="-304651" lvl="1">
              <a:lnSpc>
                <a:spcPts val="3951"/>
              </a:lnSpc>
              <a:buFont typeface="Arial"/>
              <a:buChar char="•"/>
            </a:pPr>
            <a:r>
              <a:rPr lang="en-US" sz="2822">
                <a:solidFill>
                  <a:srgbClr val="000000"/>
                </a:solidFill>
                <a:latin typeface="DG Jory"/>
                <a:ea typeface="DG Jory"/>
                <a:cs typeface="DG Jory"/>
                <a:sym typeface="DG Jory"/>
              </a:rPr>
              <a:t>prevention of overcharging</a:t>
            </a:r>
          </a:p>
          <a:p>
            <a:pPr algn="ctr">
              <a:lnSpc>
                <a:spcPts val="3951"/>
              </a:lnSpc>
            </a:pPr>
          </a:p>
        </p:txBody>
      </p:sp>
      <p:grpSp>
        <p:nvGrpSpPr>
          <p:cNvPr name="Group 14" id="14"/>
          <p:cNvGrpSpPr/>
          <p:nvPr/>
        </p:nvGrpSpPr>
        <p:grpSpPr>
          <a:xfrm rot="0">
            <a:off x="6303251" y="279513"/>
            <a:ext cx="5584493" cy="1387154"/>
            <a:chOff x="0" y="0"/>
            <a:chExt cx="3272223" cy="812800"/>
          </a:xfrm>
        </p:grpSpPr>
        <p:sp>
          <p:nvSpPr>
            <p:cNvPr name="Freeform 15" id="15"/>
            <p:cNvSpPr/>
            <p:nvPr/>
          </p:nvSpPr>
          <p:spPr>
            <a:xfrm flipH="false" flipV="false" rot="0">
              <a:off x="0" y="0"/>
              <a:ext cx="3272223" cy="812800"/>
            </a:xfrm>
            <a:custGeom>
              <a:avLst/>
              <a:gdLst/>
              <a:ahLst/>
              <a:cxnLst/>
              <a:rect r="r" b="b" t="t" l="l"/>
              <a:pathLst>
                <a:path h="812800" w="3272223">
                  <a:moveTo>
                    <a:pt x="3272223" y="0"/>
                  </a:moveTo>
                  <a:lnTo>
                    <a:pt x="0" y="0"/>
                  </a:lnTo>
                  <a:lnTo>
                    <a:pt x="0" y="624840"/>
                  </a:lnTo>
                  <a:lnTo>
                    <a:pt x="157480" y="624840"/>
                  </a:lnTo>
                  <a:lnTo>
                    <a:pt x="157480" y="812800"/>
                  </a:lnTo>
                  <a:lnTo>
                    <a:pt x="463550" y="624840"/>
                  </a:lnTo>
                  <a:lnTo>
                    <a:pt x="3272223" y="624840"/>
                  </a:lnTo>
                  <a:lnTo>
                    <a:pt x="3272223" y="0"/>
                  </a:lnTo>
                  <a:close/>
                </a:path>
              </a:pathLst>
            </a:custGeom>
            <a:solidFill>
              <a:srgbClr val="9BDAE9"/>
            </a:solidFill>
            <a:ln cap="sq">
              <a:noFill/>
              <a:prstDash val="solid"/>
              <a:miter/>
            </a:ln>
          </p:spPr>
        </p:sp>
        <p:sp>
          <p:nvSpPr>
            <p:cNvPr name="TextBox 16" id="16"/>
            <p:cNvSpPr txBox="true"/>
            <p:nvPr/>
          </p:nvSpPr>
          <p:spPr>
            <a:xfrm>
              <a:off x="0" y="-47625"/>
              <a:ext cx="3272223" cy="669925"/>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6414472" y="390734"/>
            <a:ext cx="5357019" cy="1387154"/>
            <a:chOff x="0" y="0"/>
            <a:chExt cx="3138935" cy="812800"/>
          </a:xfrm>
        </p:grpSpPr>
        <p:sp>
          <p:nvSpPr>
            <p:cNvPr name="Freeform 18" id="18"/>
            <p:cNvSpPr/>
            <p:nvPr/>
          </p:nvSpPr>
          <p:spPr>
            <a:xfrm flipH="false" flipV="false" rot="0">
              <a:off x="0" y="0"/>
              <a:ext cx="3138935" cy="812800"/>
            </a:xfrm>
            <a:custGeom>
              <a:avLst/>
              <a:gdLst/>
              <a:ahLst/>
              <a:cxnLst/>
              <a:rect r="r" b="b" t="t" l="l"/>
              <a:pathLst>
                <a:path h="812800" w="3138935">
                  <a:moveTo>
                    <a:pt x="3138935" y="0"/>
                  </a:moveTo>
                  <a:lnTo>
                    <a:pt x="0" y="0"/>
                  </a:lnTo>
                  <a:lnTo>
                    <a:pt x="0" y="624840"/>
                  </a:lnTo>
                  <a:lnTo>
                    <a:pt x="157480" y="624840"/>
                  </a:lnTo>
                  <a:lnTo>
                    <a:pt x="157480" y="812800"/>
                  </a:lnTo>
                  <a:lnTo>
                    <a:pt x="463550" y="624840"/>
                  </a:lnTo>
                  <a:lnTo>
                    <a:pt x="3138935" y="624840"/>
                  </a:lnTo>
                  <a:lnTo>
                    <a:pt x="3138935" y="0"/>
                  </a:lnTo>
                  <a:close/>
                </a:path>
              </a:pathLst>
            </a:custGeom>
            <a:ln w="66675" cap="sq">
              <a:solidFill>
                <a:srgbClr val="56C3D0"/>
              </a:solidFill>
              <a:prstDash val="solid"/>
              <a:miter/>
            </a:ln>
          </p:spPr>
        </p:sp>
        <p:sp>
          <p:nvSpPr>
            <p:cNvPr name="TextBox 19" id="19"/>
            <p:cNvSpPr txBox="true"/>
            <p:nvPr/>
          </p:nvSpPr>
          <p:spPr>
            <a:xfrm>
              <a:off x="0" y="-47625"/>
              <a:ext cx="3138935" cy="669925"/>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6388171" y="680300"/>
            <a:ext cx="5596578" cy="585592"/>
          </a:xfrm>
          <a:prstGeom prst="rect">
            <a:avLst/>
          </a:prstGeom>
        </p:spPr>
        <p:txBody>
          <a:bodyPr anchor="t" rtlCol="false" tIns="0" lIns="0" bIns="0" rIns="0">
            <a:spAutoFit/>
          </a:bodyPr>
          <a:lstStyle/>
          <a:p>
            <a:pPr algn="ctr">
              <a:lnSpc>
                <a:spcPts val="4628"/>
              </a:lnSpc>
            </a:pPr>
            <a:r>
              <a:rPr lang="en-US" sz="3857">
                <a:solidFill>
                  <a:srgbClr val="000000"/>
                </a:solidFill>
                <a:latin typeface="League Spartan"/>
                <a:ea typeface="League Spartan"/>
                <a:cs typeface="League Spartan"/>
                <a:sym typeface="League Spartan"/>
              </a:rPr>
              <a:t>PROPOSED SYSTEM</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5047824" y="5926167"/>
            <a:ext cx="7360133" cy="6664266"/>
          </a:xfrm>
          <a:custGeom>
            <a:avLst/>
            <a:gdLst/>
            <a:ahLst/>
            <a:cxnLst/>
            <a:rect r="r" b="b" t="t" l="l"/>
            <a:pathLst>
              <a:path h="6664266" w="7360133">
                <a:moveTo>
                  <a:pt x="0" y="0"/>
                </a:moveTo>
                <a:lnTo>
                  <a:pt x="7360133" y="0"/>
                </a:lnTo>
                <a:lnTo>
                  <a:pt x="7360133"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4530607" y="-2497660"/>
            <a:ext cx="7360133" cy="6664266"/>
          </a:xfrm>
          <a:custGeom>
            <a:avLst/>
            <a:gdLst/>
            <a:ahLst/>
            <a:cxnLst/>
            <a:rect r="r" b="b" t="t" l="l"/>
            <a:pathLst>
              <a:path h="6664266" w="7360133">
                <a:moveTo>
                  <a:pt x="7360133" y="6664266"/>
                </a:moveTo>
                <a:lnTo>
                  <a:pt x="0" y="6664266"/>
                </a:lnTo>
                <a:lnTo>
                  <a:pt x="0" y="0"/>
                </a:lnTo>
                <a:lnTo>
                  <a:pt x="7360133" y="0"/>
                </a:lnTo>
                <a:lnTo>
                  <a:pt x="7360133"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2564435" y="2426093"/>
            <a:ext cx="13159129" cy="7293497"/>
          </a:xfrm>
          <a:prstGeom prst="rect">
            <a:avLst/>
          </a:prstGeom>
        </p:spPr>
        <p:txBody>
          <a:bodyPr anchor="t" rtlCol="false" tIns="0" lIns="0" bIns="0" rIns="0">
            <a:spAutoFit/>
          </a:bodyPr>
          <a:lstStyle/>
          <a:p>
            <a:pPr algn="l">
              <a:lnSpc>
                <a:spcPts val="3821"/>
              </a:lnSpc>
            </a:pPr>
            <a:r>
              <a:rPr lang="en-US" sz="2729">
                <a:solidFill>
                  <a:srgbClr val="000000"/>
                </a:solidFill>
                <a:latin typeface="DG Jory"/>
                <a:ea typeface="DG Jory"/>
                <a:cs typeface="DG Jory"/>
                <a:sym typeface="DG Jory"/>
              </a:rPr>
              <a:t>The </a:t>
            </a:r>
            <a:r>
              <a:rPr lang="en-US" sz="2729">
                <a:solidFill>
                  <a:srgbClr val="000000"/>
                </a:solidFill>
                <a:latin typeface="DG Jory"/>
                <a:ea typeface="DG Jory"/>
                <a:cs typeface="DG Jory"/>
                <a:sym typeface="DG Jory"/>
              </a:rPr>
              <a:t>overall architecture of the system consists of three main layers: the energy harvesting layer, the processing layer, and the monitoring layer.</a:t>
            </a:r>
          </a:p>
          <a:p>
            <a:pPr algn="l">
              <a:lnSpc>
                <a:spcPts val="3821"/>
              </a:lnSpc>
            </a:pPr>
          </a:p>
          <a:p>
            <a:pPr algn="l">
              <a:lnSpc>
                <a:spcPts val="4101"/>
              </a:lnSpc>
            </a:pPr>
            <a:r>
              <a:rPr lang="en-US" sz="2929" b="true">
                <a:solidFill>
                  <a:srgbClr val="000000"/>
                </a:solidFill>
                <a:latin typeface="DG Jory Bold"/>
                <a:ea typeface="DG Jory Bold"/>
                <a:cs typeface="DG Jory Bold"/>
                <a:sym typeface="DG Jory Bold"/>
              </a:rPr>
              <a:t>Energy Harvesting Layer</a:t>
            </a:r>
          </a:p>
          <a:p>
            <a:pPr algn="l" marL="589290" indent="-294645" lvl="1">
              <a:lnSpc>
                <a:spcPts val="3821"/>
              </a:lnSpc>
              <a:buFont typeface="Arial"/>
              <a:buChar char="•"/>
            </a:pPr>
            <a:r>
              <a:rPr lang="en-US" sz="2729">
                <a:solidFill>
                  <a:srgbClr val="000000"/>
                </a:solidFill>
                <a:latin typeface="DG Jory"/>
                <a:ea typeface="DG Jory"/>
                <a:cs typeface="DG Jory"/>
                <a:sym typeface="DG Jory"/>
              </a:rPr>
              <a:t> The floor tile generates electrical energy when pressure is applied through footsteps.</a:t>
            </a:r>
          </a:p>
          <a:p>
            <a:pPr algn="l">
              <a:lnSpc>
                <a:spcPts val="4101"/>
              </a:lnSpc>
            </a:pPr>
            <a:r>
              <a:rPr lang="en-US" sz="2929" b="true">
                <a:solidFill>
                  <a:srgbClr val="000000"/>
                </a:solidFill>
                <a:latin typeface="DG Jory Bold"/>
                <a:ea typeface="DG Jory Bold"/>
                <a:cs typeface="DG Jory Bold"/>
                <a:sym typeface="DG Jory Bold"/>
              </a:rPr>
              <a:t>Processing Layer</a:t>
            </a:r>
          </a:p>
          <a:p>
            <a:pPr algn="l" marL="589290" indent="-294645" lvl="1">
              <a:lnSpc>
                <a:spcPts val="3821"/>
              </a:lnSpc>
              <a:buFont typeface="Arial"/>
              <a:buChar char="•"/>
            </a:pPr>
            <a:r>
              <a:rPr lang="en-US" sz="2729">
                <a:solidFill>
                  <a:srgbClr val="000000"/>
                </a:solidFill>
                <a:latin typeface="DG Jory"/>
                <a:ea typeface="DG Jory"/>
                <a:cs typeface="DG Jory"/>
                <a:sym typeface="DG Jory"/>
              </a:rPr>
              <a:t> The generated voltage signal is sent to the ESP32 microcontroller, which reads the analog value and converts it into digital data.</a:t>
            </a:r>
          </a:p>
          <a:p>
            <a:pPr algn="l">
              <a:lnSpc>
                <a:spcPts val="4101"/>
              </a:lnSpc>
            </a:pPr>
            <a:r>
              <a:rPr lang="en-US" sz="2929" b="true">
                <a:solidFill>
                  <a:srgbClr val="000000"/>
                </a:solidFill>
                <a:latin typeface="DG Jory Bold"/>
                <a:ea typeface="DG Jory Bold"/>
                <a:cs typeface="DG Jory Bold"/>
                <a:sym typeface="DG Jory Bold"/>
              </a:rPr>
              <a:t>Monitoring Layer</a:t>
            </a:r>
          </a:p>
          <a:p>
            <a:pPr algn="l" marL="589290" indent="-294645" lvl="1">
              <a:lnSpc>
                <a:spcPts val="3821"/>
              </a:lnSpc>
              <a:buFont typeface="Arial"/>
              <a:buChar char="•"/>
            </a:pPr>
            <a:r>
              <a:rPr lang="en-US" sz="2729">
                <a:solidFill>
                  <a:srgbClr val="000000"/>
                </a:solidFill>
                <a:latin typeface="DG Jory"/>
                <a:ea typeface="DG Jory"/>
                <a:cs typeface="DG Jory"/>
                <a:sym typeface="DG Jory"/>
              </a:rPr>
              <a:t> The ESP32 sends the data via WiFi to a web-based dashboard where users can view real-time voltage values and prevent capacitor from overcharging by cutting off the circuit.</a:t>
            </a:r>
          </a:p>
          <a:p>
            <a:pPr algn="l">
              <a:lnSpc>
                <a:spcPts val="4101"/>
              </a:lnSpc>
            </a:pPr>
            <a:r>
              <a:rPr lang="en-US" sz="2929" b="true">
                <a:solidFill>
                  <a:srgbClr val="000000"/>
                </a:solidFill>
                <a:latin typeface="DG Jory Bold"/>
                <a:ea typeface="DG Jory Bold"/>
                <a:cs typeface="DG Jory Bold"/>
                <a:sym typeface="DG Jory Bold"/>
              </a:rPr>
              <a:t>Data Flow Process:</a:t>
            </a:r>
          </a:p>
          <a:p>
            <a:pPr algn="l" marL="589290" indent="-294645" lvl="1">
              <a:lnSpc>
                <a:spcPts val="3821"/>
              </a:lnSpc>
              <a:buFont typeface="Arial"/>
              <a:buChar char="•"/>
            </a:pPr>
            <a:r>
              <a:rPr lang="en-US" sz="2729">
                <a:solidFill>
                  <a:srgbClr val="000000"/>
                </a:solidFill>
                <a:latin typeface="DG Jory"/>
                <a:ea typeface="DG Jory"/>
                <a:cs typeface="DG Jory"/>
                <a:sym typeface="DG Jory"/>
              </a:rPr>
              <a:t>Footstep Pressure → Energy Generation → Voltage Measurement (ESP32) → WiFi Transmission → Web Dashboard Display</a:t>
            </a:r>
          </a:p>
          <a:p>
            <a:pPr algn="l">
              <a:lnSpc>
                <a:spcPts val="3821"/>
              </a:lnSpc>
            </a:pPr>
          </a:p>
        </p:txBody>
      </p:sp>
      <p:grpSp>
        <p:nvGrpSpPr>
          <p:cNvPr name="Group 7" id="7"/>
          <p:cNvGrpSpPr/>
          <p:nvPr/>
        </p:nvGrpSpPr>
        <p:grpSpPr>
          <a:xfrm rot="0">
            <a:off x="3829156" y="322111"/>
            <a:ext cx="5994124" cy="1773322"/>
            <a:chOff x="0" y="0"/>
            <a:chExt cx="2747400" cy="812800"/>
          </a:xfrm>
        </p:grpSpPr>
        <p:sp>
          <p:nvSpPr>
            <p:cNvPr name="Freeform 8" id="8"/>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9" id="9"/>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3971340" y="464295"/>
            <a:ext cx="5994124" cy="1773322"/>
            <a:chOff x="0" y="0"/>
            <a:chExt cx="2747400" cy="812800"/>
          </a:xfrm>
        </p:grpSpPr>
        <p:sp>
          <p:nvSpPr>
            <p:cNvPr name="Freeform 11" id="11"/>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ln w="66675" cap="sq">
              <a:solidFill>
                <a:srgbClr val="56C3D0"/>
              </a:solidFill>
              <a:prstDash val="solid"/>
              <a:miter/>
            </a:ln>
          </p:spPr>
        </p:sp>
        <p:sp>
          <p:nvSpPr>
            <p:cNvPr name="TextBox 12" id="12"/>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3937716" y="834473"/>
            <a:ext cx="6027748" cy="748614"/>
          </a:xfrm>
          <a:prstGeom prst="rect">
            <a:avLst/>
          </a:prstGeom>
        </p:spPr>
        <p:txBody>
          <a:bodyPr anchor="t" rtlCol="false" tIns="0" lIns="0" bIns="0" rIns="0">
            <a:spAutoFit/>
          </a:bodyPr>
          <a:lstStyle/>
          <a:p>
            <a:pPr algn="ctr">
              <a:lnSpc>
                <a:spcPts val="5917"/>
              </a:lnSpc>
            </a:pPr>
            <a:r>
              <a:rPr lang="en-US" sz="4930">
                <a:solidFill>
                  <a:srgbClr val="000000"/>
                </a:solidFill>
                <a:latin typeface="League Spartan"/>
                <a:ea typeface="League Spartan"/>
                <a:cs typeface="League Spartan"/>
                <a:sym typeface="League Spartan"/>
              </a:rPr>
              <a:t>ARCHITECTURE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13082137" y="-495020"/>
            <a:ext cx="9287959" cy="8409825"/>
          </a:xfrm>
          <a:custGeom>
            <a:avLst/>
            <a:gdLst/>
            <a:ahLst/>
            <a:cxnLst/>
            <a:rect r="r" b="b" t="t" l="l"/>
            <a:pathLst>
              <a:path h="8409825" w="9287959">
                <a:moveTo>
                  <a:pt x="9287960" y="8409824"/>
                </a:moveTo>
                <a:lnTo>
                  <a:pt x="0" y="8409824"/>
                </a:lnTo>
                <a:lnTo>
                  <a:pt x="0" y="0"/>
                </a:lnTo>
                <a:lnTo>
                  <a:pt x="9287960" y="0"/>
                </a:lnTo>
                <a:lnTo>
                  <a:pt x="9287960" y="840982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07933" y="8049787"/>
            <a:ext cx="7360133" cy="6664266"/>
          </a:xfrm>
          <a:custGeom>
            <a:avLst/>
            <a:gdLst/>
            <a:ahLst/>
            <a:cxnLst/>
            <a:rect r="r" b="b" t="t" l="l"/>
            <a:pathLst>
              <a:path h="6664266" w="7360133">
                <a:moveTo>
                  <a:pt x="0" y="0"/>
                </a:moveTo>
                <a:lnTo>
                  <a:pt x="7360134" y="0"/>
                </a:lnTo>
                <a:lnTo>
                  <a:pt x="7360134" y="6664267"/>
                </a:lnTo>
                <a:lnTo>
                  <a:pt x="0" y="666426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4" id="4"/>
          <p:cNvSpPr/>
          <p:nvPr/>
        </p:nvSpPr>
        <p:spPr>
          <a:xfrm flipH="true" flipV="false" rot="0">
            <a:off x="8303269" y="8738243"/>
            <a:ext cx="7360133" cy="6664266"/>
          </a:xfrm>
          <a:custGeom>
            <a:avLst/>
            <a:gdLst/>
            <a:ahLst/>
            <a:cxnLst/>
            <a:rect r="r" b="b" t="t" l="l"/>
            <a:pathLst>
              <a:path h="6664266" w="7360133">
                <a:moveTo>
                  <a:pt x="7360133" y="0"/>
                </a:moveTo>
                <a:lnTo>
                  <a:pt x="0" y="0"/>
                </a:lnTo>
                <a:lnTo>
                  <a:pt x="0" y="6664266"/>
                </a:lnTo>
                <a:lnTo>
                  <a:pt x="7360133" y="6664266"/>
                </a:lnTo>
                <a:lnTo>
                  <a:pt x="7360133"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5" id="5"/>
          <p:cNvSpPr txBox="true"/>
          <p:nvPr/>
        </p:nvSpPr>
        <p:spPr>
          <a:xfrm rot="0">
            <a:off x="1371878" y="1761989"/>
            <a:ext cx="11710259" cy="7884864"/>
          </a:xfrm>
          <a:prstGeom prst="rect">
            <a:avLst/>
          </a:prstGeom>
        </p:spPr>
        <p:txBody>
          <a:bodyPr anchor="t" rtlCol="false" tIns="0" lIns="0" bIns="0" rIns="0">
            <a:spAutoFit/>
          </a:bodyPr>
          <a:lstStyle/>
          <a:p>
            <a:pPr algn="l">
              <a:lnSpc>
                <a:spcPts val="3916"/>
              </a:lnSpc>
            </a:pPr>
            <a:r>
              <a:rPr lang="en-US" sz="2797" b="true">
                <a:solidFill>
                  <a:srgbClr val="000000"/>
                </a:solidFill>
                <a:latin typeface="DG Jory Bold"/>
                <a:ea typeface="DG Jory Bold"/>
                <a:cs typeface="DG Jory Bold"/>
                <a:sym typeface="DG Jory Bold"/>
              </a:rPr>
              <a:t>Ha</a:t>
            </a:r>
            <a:r>
              <a:rPr lang="en-US" sz="2797" b="true">
                <a:solidFill>
                  <a:srgbClr val="000000"/>
                </a:solidFill>
                <a:latin typeface="DG Jory Bold"/>
                <a:ea typeface="DG Jory Bold"/>
                <a:cs typeface="DG Jory Bold"/>
                <a:sym typeface="DG Jory Bold"/>
              </a:rPr>
              <a:t>rdware Components</a:t>
            </a:r>
          </a:p>
          <a:p>
            <a:pPr algn="l" marL="560753" indent="-280376" lvl="1">
              <a:lnSpc>
                <a:spcPts val="3636"/>
              </a:lnSpc>
              <a:buFont typeface="Arial"/>
              <a:buChar char="•"/>
            </a:pPr>
            <a:r>
              <a:rPr lang="en-US" sz="2597">
                <a:solidFill>
                  <a:srgbClr val="000000"/>
                </a:solidFill>
                <a:latin typeface="DG Jory"/>
                <a:ea typeface="DG Jory"/>
                <a:cs typeface="DG Jory"/>
                <a:sym typeface="DG Jory"/>
              </a:rPr>
              <a:t>Energy harvesting tiles </a:t>
            </a:r>
          </a:p>
          <a:p>
            <a:pPr algn="l" marL="560753" indent="-280376" lvl="1">
              <a:lnSpc>
                <a:spcPts val="3636"/>
              </a:lnSpc>
              <a:buFont typeface="Arial"/>
              <a:buChar char="•"/>
            </a:pPr>
            <a:r>
              <a:rPr lang="en-US" sz="2597">
                <a:solidFill>
                  <a:srgbClr val="000000"/>
                </a:solidFill>
                <a:latin typeface="DG Jory"/>
                <a:ea typeface="DG Jory"/>
                <a:cs typeface="DG Jory"/>
                <a:sym typeface="DG Jory"/>
              </a:rPr>
              <a:t>ESP32 microcontroller</a:t>
            </a:r>
          </a:p>
          <a:p>
            <a:pPr algn="l" marL="560753" indent="-280376" lvl="1">
              <a:lnSpc>
                <a:spcPts val="3636"/>
              </a:lnSpc>
              <a:buFont typeface="Arial"/>
              <a:buChar char="•"/>
            </a:pPr>
            <a:r>
              <a:rPr lang="en-US" sz="2597">
                <a:solidFill>
                  <a:srgbClr val="000000"/>
                </a:solidFill>
                <a:latin typeface="DG Jory"/>
                <a:ea typeface="DG Jory"/>
                <a:cs typeface="DG Jory"/>
                <a:sym typeface="DG Jory"/>
              </a:rPr>
              <a:t>Voltage sensing circuit and storage</a:t>
            </a:r>
          </a:p>
          <a:p>
            <a:pPr algn="l" marL="560753" indent="-280376" lvl="1">
              <a:lnSpc>
                <a:spcPts val="3636"/>
              </a:lnSpc>
              <a:buFont typeface="Arial"/>
              <a:buChar char="•"/>
            </a:pPr>
            <a:r>
              <a:rPr lang="en-US" sz="2597">
                <a:solidFill>
                  <a:srgbClr val="000000"/>
                </a:solidFill>
                <a:latin typeface="DG Jory"/>
                <a:ea typeface="DG Jory"/>
                <a:cs typeface="DG Jory"/>
                <a:sym typeface="DG Jory"/>
              </a:rPr>
              <a:t>Power conditioning components</a:t>
            </a:r>
          </a:p>
          <a:p>
            <a:pPr algn="l">
              <a:lnSpc>
                <a:spcPts val="3636"/>
              </a:lnSpc>
            </a:pPr>
          </a:p>
          <a:p>
            <a:pPr algn="l">
              <a:lnSpc>
                <a:spcPts val="3916"/>
              </a:lnSpc>
            </a:pPr>
            <a:r>
              <a:rPr lang="en-US" sz="2797" b="true">
                <a:solidFill>
                  <a:srgbClr val="000000"/>
                </a:solidFill>
                <a:latin typeface="DG Jory Bold"/>
                <a:ea typeface="DG Jory Bold"/>
                <a:cs typeface="DG Jory Bold"/>
                <a:sym typeface="DG Jory Bold"/>
              </a:rPr>
              <a:t>Software Technologies</a:t>
            </a:r>
          </a:p>
          <a:p>
            <a:pPr algn="l" marL="560753" indent="-280376" lvl="1">
              <a:lnSpc>
                <a:spcPts val="3636"/>
              </a:lnSpc>
              <a:buFont typeface="Arial"/>
              <a:buChar char="•"/>
            </a:pPr>
            <a:r>
              <a:rPr lang="en-US" sz="2597">
                <a:solidFill>
                  <a:srgbClr val="000000"/>
                </a:solidFill>
                <a:latin typeface="DG Jory"/>
                <a:ea typeface="DG Jory"/>
                <a:cs typeface="DG Jory"/>
                <a:sym typeface="DG Jory"/>
              </a:rPr>
              <a:t>Arduino IDE for ESP32 programming</a:t>
            </a:r>
          </a:p>
          <a:p>
            <a:pPr algn="l" marL="560753" indent="-280376" lvl="1">
              <a:lnSpc>
                <a:spcPts val="3636"/>
              </a:lnSpc>
              <a:buFont typeface="Arial"/>
              <a:buChar char="•"/>
            </a:pPr>
            <a:r>
              <a:rPr lang="en-US" sz="2597">
                <a:solidFill>
                  <a:srgbClr val="000000"/>
                </a:solidFill>
                <a:latin typeface="DG Jory"/>
                <a:ea typeface="DG Jory"/>
                <a:cs typeface="DG Jory"/>
                <a:sym typeface="DG Jory"/>
              </a:rPr>
              <a:t>HTML for web interface</a:t>
            </a:r>
          </a:p>
          <a:p>
            <a:pPr algn="l" marL="560753" indent="-280376" lvl="1">
              <a:lnSpc>
                <a:spcPts val="3636"/>
              </a:lnSpc>
              <a:buFont typeface="Arial"/>
              <a:buChar char="•"/>
            </a:pPr>
            <a:r>
              <a:rPr lang="en-US" sz="2597">
                <a:solidFill>
                  <a:srgbClr val="000000"/>
                </a:solidFill>
                <a:latin typeface="DG Jory"/>
                <a:ea typeface="DG Jory"/>
                <a:cs typeface="DG Jory"/>
                <a:sym typeface="DG Jory"/>
              </a:rPr>
              <a:t>JavaScript for dynamic data updates</a:t>
            </a:r>
          </a:p>
          <a:p>
            <a:pPr algn="l" marL="560753" indent="-280376" lvl="1">
              <a:lnSpc>
                <a:spcPts val="3636"/>
              </a:lnSpc>
              <a:buFont typeface="Arial"/>
              <a:buChar char="•"/>
            </a:pPr>
            <a:r>
              <a:rPr lang="en-US" sz="2597">
                <a:solidFill>
                  <a:srgbClr val="000000"/>
                </a:solidFill>
                <a:latin typeface="DG Jory"/>
                <a:ea typeface="DG Jory"/>
                <a:cs typeface="DG Jory"/>
                <a:sym typeface="DG Jory"/>
              </a:rPr>
              <a:t>Chart.js for graphical visualization</a:t>
            </a:r>
          </a:p>
          <a:p>
            <a:pPr algn="l">
              <a:lnSpc>
                <a:spcPts val="3636"/>
              </a:lnSpc>
            </a:pPr>
          </a:p>
          <a:p>
            <a:pPr algn="l">
              <a:lnSpc>
                <a:spcPts val="3916"/>
              </a:lnSpc>
            </a:pPr>
            <a:r>
              <a:rPr lang="en-US" sz="2797" b="true">
                <a:solidFill>
                  <a:srgbClr val="000000"/>
                </a:solidFill>
                <a:latin typeface="DG Jory Bold"/>
                <a:ea typeface="DG Jory Bold"/>
                <a:cs typeface="DG Jory Bold"/>
                <a:sym typeface="DG Jory Bold"/>
              </a:rPr>
              <a:t>Communication Technology</a:t>
            </a:r>
          </a:p>
          <a:p>
            <a:pPr algn="l" marL="560753" indent="-280376" lvl="1">
              <a:lnSpc>
                <a:spcPts val="3636"/>
              </a:lnSpc>
              <a:buFont typeface="Arial"/>
              <a:buChar char="•"/>
            </a:pPr>
            <a:r>
              <a:rPr lang="en-US" sz="2597">
                <a:solidFill>
                  <a:srgbClr val="000000"/>
                </a:solidFill>
                <a:latin typeface="DG Jory"/>
                <a:ea typeface="DG Jory"/>
                <a:cs typeface="DG Jory"/>
                <a:sym typeface="DG Jory"/>
              </a:rPr>
              <a:t>WiFi communication using ESP32</a:t>
            </a:r>
          </a:p>
          <a:p>
            <a:pPr algn="l" marL="560753" indent="-280376" lvl="1">
              <a:lnSpc>
                <a:spcPts val="3636"/>
              </a:lnSpc>
              <a:buFont typeface="Arial"/>
              <a:buChar char="•"/>
            </a:pPr>
            <a:r>
              <a:rPr lang="en-US" sz="2597">
                <a:solidFill>
                  <a:srgbClr val="000000"/>
                </a:solidFill>
                <a:latin typeface="DG Jory"/>
                <a:ea typeface="DG Jory"/>
                <a:cs typeface="DG Jory"/>
                <a:sym typeface="DG Jory"/>
              </a:rPr>
              <a:t>REST API endpoint for retrieving live data</a:t>
            </a:r>
          </a:p>
          <a:p>
            <a:pPr algn="l">
              <a:lnSpc>
                <a:spcPts val="3636"/>
              </a:lnSpc>
            </a:pPr>
          </a:p>
          <a:p>
            <a:pPr algn="l">
              <a:lnSpc>
                <a:spcPts val="3636"/>
              </a:lnSpc>
            </a:pPr>
          </a:p>
        </p:txBody>
      </p:sp>
      <p:grpSp>
        <p:nvGrpSpPr>
          <p:cNvPr name="Group 6" id="6"/>
          <p:cNvGrpSpPr/>
          <p:nvPr/>
        </p:nvGrpSpPr>
        <p:grpSpPr>
          <a:xfrm rot="0">
            <a:off x="494853" y="228736"/>
            <a:ext cx="6521989" cy="1481169"/>
            <a:chOff x="0" y="0"/>
            <a:chExt cx="3578978" cy="812800"/>
          </a:xfrm>
        </p:grpSpPr>
        <p:sp>
          <p:nvSpPr>
            <p:cNvPr name="Freeform 7" id="7"/>
            <p:cNvSpPr/>
            <p:nvPr/>
          </p:nvSpPr>
          <p:spPr>
            <a:xfrm flipH="false" flipV="false" rot="0">
              <a:off x="0" y="0"/>
              <a:ext cx="3578978" cy="812800"/>
            </a:xfrm>
            <a:custGeom>
              <a:avLst/>
              <a:gdLst/>
              <a:ahLst/>
              <a:cxnLst/>
              <a:rect r="r" b="b" t="t" l="l"/>
              <a:pathLst>
                <a:path h="812800" w="3578978">
                  <a:moveTo>
                    <a:pt x="3578978" y="0"/>
                  </a:moveTo>
                  <a:lnTo>
                    <a:pt x="0" y="0"/>
                  </a:lnTo>
                  <a:lnTo>
                    <a:pt x="0" y="624840"/>
                  </a:lnTo>
                  <a:lnTo>
                    <a:pt x="157480" y="624840"/>
                  </a:lnTo>
                  <a:lnTo>
                    <a:pt x="157480" y="812800"/>
                  </a:lnTo>
                  <a:lnTo>
                    <a:pt x="463550" y="624840"/>
                  </a:lnTo>
                  <a:lnTo>
                    <a:pt x="3578978" y="624840"/>
                  </a:lnTo>
                  <a:lnTo>
                    <a:pt x="3578978" y="0"/>
                  </a:lnTo>
                  <a:close/>
                </a:path>
              </a:pathLst>
            </a:custGeom>
            <a:solidFill>
              <a:srgbClr val="9BDAE9"/>
            </a:solidFill>
            <a:ln cap="sq">
              <a:noFill/>
              <a:prstDash val="solid"/>
              <a:miter/>
            </a:ln>
          </p:spPr>
        </p:sp>
        <p:sp>
          <p:nvSpPr>
            <p:cNvPr name="TextBox 8" id="8"/>
            <p:cNvSpPr txBox="true"/>
            <p:nvPr/>
          </p:nvSpPr>
          <p:spPr>
            <a:xfrm>
              <a:off x="0" y="-47625"/>
              <a:ext cx="3578978"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613612" y="347495"/>
            <a:ext cx="6281784" cy="1481169"/>
            <a:chOff x="0" y="0"/>
            <a:chExt cx="3447164" cy="812800"/>
          </a:xfrm>
        </p:grpSpPr>
        <p:sp>
          <p:nvSpPr>
            <p:cNvPr name="Freeform 10" id="10"/>
            <p:cNvSpPr/>
            <p:nvPr/>
          </p:nvSpPr>
          <p:spPr>
            <a:xfrm flipH="false" flipV="false" rot="0">
              <a:off x="0" y="0"/>
              <a:ext cx="3447164" cy="812800"/>
            </a:xfrm>
            <a:custGeom>
              <a:avLst/>
              <a:gdLst/>
              <a:ahLst/>
              <a:cxnLst/>
              <a:rect r="r" b="b" t="t" l="l"/>
              <a:pathLst>
                <a:path h="812800" w="3447164">
                  <a:moveTo>
                    <a:pt x="3447164" y="0"/>
                  </a:moveTo>
                  <a:lnTo>
                    <a:pt x="0" y="0"/>
                  </a:lnTo>
                  <a:lnTo>
                    <a:pt x="0" y="624840"/>
                  </a:lnTo>
                  <a:lnTo>
                    <a:pt x="157480" y="624840"/>
                  </a:lnTo>
                  <a:lnTo>
                    <a:pt x="157480" y="812800"/>
                  </a:lnTo>
                  <a:lnTo>
                    <a:pt x="463550" y="624840"/>
                  </a:lnTo>
                  <a:lnTo>
                    <a:pt x="3447164" y="624840"/>
                  </a:lnTo>
                  <a:lnTo>
                    <a:pt x="3447164" y="0"/>
                  </a:lnTo>
                  <a:close/>
                </a:path>
              </a:pathLst>
            </a:custGeom>
            <a:ln w="66675" cap="sq">
              <a:solidFill>
                <a:srgbClr val="56C3D0"/>
              </a:solidFill>
              <a:prstDash val="solid"/>
              <a:miter/>
            </a:ln>
          </p:spPr>
        </p:sp>
        <p:sp>
          <p:nvSpPr>
            <p:cNvPr name="TextBox 11" id="11"/>
            <p:cNvSpPr txBox="true"/>
            <p:nvPr/>
          </p:nvSpPr>
          <p:spPr>
            <a:xfrm>
              <a:off x="0" y="-47625"/>
              <a:ext cx="3447164" cy="6699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585528" y="656687"/>
            <a:ext cx="6431314" cy="625281"/>
          </a:xfrm>
          <a:prstGeom prst="rect">
            <a:avLst/>
          </a:prstGeom>
        </p:spPr>
        <p:txBody>
          <a:bodyPr anchor="t" rtlCol="false" tIns="0" lIns="0" bIns="0" rIns="0">
            <a:spAutoFit/>
          </a:bodyPr>
          <a:lstStyle/>
          <a:p>
            <a:pPr algn="ctr">
              <a:lnSpc>
                <a:spcPts val="4942"/>
              </a:lnSpc>
            </a:pPr>
            <a:r>
              <a:rPr lang="en-US" sz="4118">
                <a:solidFill>
                  <a:srgbClr val="000000"/>
                </a:solidFill>
                <a:latin typeface="League Spartan"/>
                <a:ea typeface="League Spartan"/>
                <a:cs typeface="League Spartan"/>
                <a:sym typeface="League Spartan"/>
              </a:rPr>
              <a:t>TECHNOLOGY STACK</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4393776" y="-2679340"/>
            <a:ext cx="7360133" cy="6664266"/>
          </a:xfrm>
          <a:custGeom>
            <a:avLst/>
            <a:gdLst/>
            <a:ahLst/>
            <a:cxnLst/>
            <a:rect r="r" b="b" t="t" l="l"/>
            <a:pathLst>
              <a:path h="6664266" w="7360133">
                <a:moveTo>
                  <a:pt x="7360133" y="6664266"/>
                </a:moveTo>
                <a:lnTo>
                  <a:pt x="0" y="6664266"/>
                </a:lnTo>
                <a:lnTo>
                  <a:pt x="0" y="0"/>
                </a:lnTo>
                <a:lnTo>
                  <a:pt x="7360133" y="0"/>
                </a:lnTo>
                <a:lnTo>
                  <a:pt x="7360133"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3271157" y="220364"/>
            <a:ext cx="4782011" cy="1414726"/>
            <a:chOff x="0" y="0"/>
            <a:chExt cx="2747400" cy="812800"/>
          </a:xfrm>
        </p:grpSpPr>
        <p:sp>
          <p:nvSpPr>
            <p:cNvPr name="Freeform 7" id="7"/>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8" id="8"/>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3384589" y="333795"/>
            <a:ext cx="4782011" cy="1414726"/>
            <a:chOff x="0" y="0"/>
            <a:chExt cx="2747400" cy="812800"/>
          </a:xfrm>
        </p:grpSpPr>
        <p:sp>
          <p:nvSpPr>
            <p:cNvPr name="Freeform 10" id="10"/>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ln w="66675" cap="sq">
              <a:solidFill>
                <a:srgbClr val="56C3D0"/>
              </a:solidFill>
              <a:prstDash val="solid"/>
              <a:miter/>
            </a:ln>
          </p:spPr>
        </p:sp>
        <p:sp>
          <p:nvSpPr>
            <p:cNvPr name="TextBox 11" id="11"/>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357765" y="629117"/>
            <a:ext cx="4808836" cy="597232"/>
          </a:xfrm>
          <a:prstGeom prst="rect">
            <a:avLst/>
          </a:prstGeom>
        </p:spPr>
        <p:txBody>
          <a:bodyPr anchor="t" rtlCol="false" tIns="0" lIns="0" bIns="0" rIns="0">
            <a:spAutoFit/>
          </a:bodyPr>
          <a:lstStyle/>
          <a:p>
            <a:pPr algn="ctr">
              <a:lnSpc>
                <a:spcPts val="4720"/>
              </a:lnSpc>
            </a:pPr>
            <a:r>
              <a:rPr lang="en-US" sz="3933">
                <a:solidFill>
                  <a:srgbClr val="000000"/>
                </a:solidFill>
                <a:latin typeface="League Spartan"/>
                <a:ea typeface="League Spartan"/>
                <a:cs typeface="League Spartan"/>
                <a:sym typeface="League Spartan"/>
              </a:rPr>
              <a:t>KEY FEATURES</a:t>
            </a:r>
          </a:p>
        </p:txBody>
      </p:sp>
      <p:sp>
        <p:nvSpPr>
          <p:cNvPr name="TextBox 13" id="13"/>
          <p:cNvSpPr txBox="true"/>
          <p:nvPr/>
        </p:nvSpPr>
        <p:spPr>
          <a:xfrm rot="0">
            <a:off x="2807218" y="1996732"/>
            <a:ext cx="13299772" cy="7315362"/>
          </a:xfrm>
          <a:prstGeom prst="rect">
            <a:avLst/>
          </a:prstGeom>
        </p:spPr>
        <p:txBody>
          <a:bodyPr anchor="t" rtlCol="false" tIns="0" lIns="0" bIns="0" rIns="0">
            <a:spAutoFit/>
          </a:bodyPr>
          <a:lstStyle/>
          <a:p>
            <a:pPr algn="l">
              <a:lnSpc>
                <a:spcPts val="4191"/>
              </a:lnSpc>
              <a:spcBef>
                <a:spcPct val="0"/>
              </a:spcBef>
            </a:pPr>
            <a:r>
              <a:rPr lang="en-US" sz="2993">
                <a:solidFill>
                  <a:srgbClr val="000000"/>
                </a:solidFill>
                <a:latin typeface="DG Jory"/>
                <a:ea typeface="DG Jory"/>
                <a:cs typeface="DG Jory"/>
                <a:sym typeface="DG Jory"/>
              </a:rPr>
              <a:t>The developed system incorporates several features that enhance energy monitoring, system control, and usability.</a:t>
            </a:r>
          </a:p>
          <a:p>
            <a:pPr algn="l">
              <a:lnSpc>
                <a:spcPts val="4191"/>
              </a:lnSpc>
              <a:spcBef>
                <a:spcPct val="0"/>
              </a:spcBef>
            </a:pPr>
          </a:p>
          <a:p>
            <a:pPr algn="l">
              <a:lnSpc>
                <a:spcPts val="4191"/>
              </a:lnSpc>
              <a:spcBef>
                <a:spcPct val="0"/>
              </a:spcBef>
            </a:pPr>
            <a:r>
              <a:rPr lang="en-US" b="true" sz="2993">
                <a:solidFill>
                  <a:srgbClr val="000000"/>
                </a:solidFill>
                <a:latin typeface="DG Jory Bold"/>
                <a:ea typeface="DG Jory Bold"/>
                <a:cs typeface="DG Jory Bold"/>
                <a:sym typeface="DG Jory Bold"/>
              </a:rPr>
              <a:t>Main Features:</a:t>
            </a:r>
          </a:p>
          <a:p>
            <a:pPr algn="l" marL="646324" indent="-323162" lvl="1">
              <a:lnSpc>
                <a:spcPts val="4191"/>
              </a:lnSpc>
              <a:buFont typeface="Arial"/>
              <a:buChar char="•"/>
            </a:pPr>
            <a:r>
              <a:rPr lang="en-US" sz="2993">
                <a:solidFill>
                  <a:srgbClr val="000000"/>
                </a:solidFill>
                <a:latin typeface="DG Jory"/>
                <a:ea typeface="DG Jory"/>
                <a:cs typeface="DG Jory"/>
                <a:sym typeface="DG Jory"/>
              </a:rPr>
              <a:t>Real-time voltage monitoring from energy harvesting tiles</a:t>
            </a:r>
          </a:p>
          <a:p>
            <a:pPr algn="l" marL="646324" indent="-323162" lvl="1">
              <a:lnSpc>
                <a:spcPts val="4191"/>
              </a:lnSpc>
              <a:buFont typeface="Arial"/>
              <a:buChar char="•"/>
            </a:pPr>
            <a:r>
              <a:rPr lang="en-US" sz="2993">
                <a:solidFill>
                  <a:srgbClr val="000000"/>
                </a:solidFill>
                <a:latin typeface="DG Jory"/>
                <a:ea typeface="DG Jory"/>
                <a:cs typeface="DG Jory"/>
                <a:sym typeface="DG Jory"/>
              </a:rPr>
              <a:t>Wireless data transmission using ESP32 WiFi</a:t>
            </a:r>
          </a:p>
          <a:p>
            <a:pPr algn="l" marL="646324" indent="-323162" lvl="1">
              <a:lnSpc>
                <a:spcPts val="4191"/>
              </a:lnSpc>
              <a:buFont typeface="Arial"/>
              <a:buChar char="•"/>
            </a:pPr>
            <a:r>
              <a:rPr lang="en-US" sz="2993">
                <a:solidFill>
                  <a:srgbClr val="000000"/>
                </a:solidFill>
                <a:latin typeface="DG Jory"/>
                <a:ea typeface="DG Jory"/>
                <a:cs typeface="DG Jory"/>
                <a:sym typeface="DG Jory"/>
              </a:rPr>
              <a:t>Live web dashboard for visualization</a:t>
            </a:r>
          </a:p>
          <a:p>
            <a:pPr algn="l" marL="646324" indent="-323162" lvl="1">
              <a:lnSpc>
                <a:spcPts val="4191"/>
              </a:lnSpc>
              <a:buFont typeface="Arial"/>
              <a:buChar char="•"/>
            </a:pPr>
            <a:r>
              <a:rPr lang="en-US" sz="2993">
                <a:solidFill>
                  <a:srgbClr val="000000"/>
                </a:solidFill>
                <a:latin typeface="DG Jory"/>
                <a:ea typeface="DG Jory"/>
                <a:cs typeface="DG Jory"/>
                <a:sym typeface="DG Jory"/>
              </a:rPr>
              <a:t>Continuous monitoring of energy generation</a:t>
            </a:r>
          </a:p>
          <a:p>
            <a:pPr algn="l" marL="646324" indent="-323162" lvl="1">
              <a:lnSpc>
                <a:spcPts val="4191"/>
              </a:lnSpc>
              <a:buFont typeface="Arial"/>
              <a:buChar char="•"/>
            </a:pPr>
            <a:r>
              <a:rPr lang="en-US" sz="2993">
                <a:solidFill>
                  <a:srgbClr val="000000"/>
                </a:solidFill>
                <a:latin typeface="DG Jory"/>
                <a:ea typeface="DG Jory"/>
                <a:cs typeface="DG Jory"/>
                <a:sym typeface="DG Jory"/>
              </a:rPr>
              <a:t>Preventing energy loss by cutting the circuit</a:t>
            </a:r>
          </a:p>
          <a:p>
            <a:pPr algn="l">
              <a:lnSpc>
                <a:spcPts val="4191"/>
              </a:lnSpc>
              <a:spcBef>
                <a:spcPct val="0"/>
              </a:spcBef>
            </a:pPr>
            <a:r>
              <a:rPr lang="en-US" b="true" sz="2993">
                <a:solidFill>
                  <a:srgbClr val="000000"/>
                </a:solidFill>
                <a:latin typeface="DG Jory Bold"/>
                <a:ea typeface="DG Jory Bold"/>
                <a:cs typeface="DG Jory Bold"/>
                <a:sym typeface="DG Jory Bold"/>
              </a:rPr>
              <a:t>Additional Advantages:</a:t>
            </a:r>
          </a:p>
          <a:p>
            <a:pPr algn="l" marL="646324" indent="-323162" lvl="1">
              <a:lnSpc>
                <a:spcPts val="4191"/>
              </a:lnSpc>
              <a:buFont typeface="Arial"/>
              <a:buChar char="•"/>
            </a:pPr>
            <a:r>
              <a:rPr lang="en-US" sz="2993">
                <a:solidFill>
                  <a:srgbClr val="000000"/>
                </a:solidFill>
                <a:latin typeface="DG Jory"/>
                <a:ea typeface="DG Jory"/>
                <a:cs typeface="DG Jory"/>
                <a:sym typeface="DG Jory"/>
              </a:rPr>
              <a:t>Low-cost implementation</a:t>
            </a:r>
          </a:p>
          <a:p>
            <a:pPr algn="l" marL="646324" indent="-323162" lvl="1">
              <a:lnSpc>
                <a:spcPts val="4191"/>
              </a:lnSpc>
              <a:buFont typeface="Arial"/>
              <a:buChar char="•"/>
            </a:pPr>
            <a:r>
              <a:rPr lang="en-US" sz="2993">
                <a:solidFill>
                  <a:srgbClr val="000000"/>
                </a:solidFill>
                <a:latin typeface="DG Jory"/>
                <a:ea typeface="DG Jory"/>
                <a:cs typeface="DG Jory"/>
                <a:sym typeface="DG Jory"/>
              </a:rPr>
              <a:t>Scalable for larger installations</a:t>
            </a:r>
          </a:p>
          <a:p>
            <a:pPr algn="l" marL="646324" indent="-323162" lvl="1">
              <a:lnSpc>
                <a:spcPts val="4191"/>
              </a:lnSpc>
              <a:buFont typeface="Arial"/>
              <a:buChar char="•"/>
            </a:pPr>
            <a:r>
              <a:rPr lang="en-US" sz="2993">
                <a:solidFill>
                  <a:srgbClr val="000000"/>
                </a:solidFill>
                <a:latin typeface="DG Jory"/>
                <a:ea typeface="DG Jory"/>
                <a:cs typeface="DG Jory"/>
                <a:sym typeface="DG Jory"/>
              </a:rPr>
              <a:t>Simple and efficient architecture</a:t>
            </a:r>
          </a:p>
          <a:p>
            <a:pPr algn="l" marL="646324" indent="-323162" lvl="1">
              <a:lnSpc>
                <a:spcPts val="4191"/>
              </a:lnSpc>
              <a:buFont typeface="Arial"/>
              <a:buChar char="•"/>
            </a:pPr>
            <a:r>
              <a:rPr lang="en-US" sz="2993">
                <a:solidFill>
                  <a:srgbClr val="000000"/>
                </a:solidFill>
                <a:latin typeface="DG Jory"/>
                <a:ea typeface="DG Jory"/>
                <a:cs typeface="DG Jory"/>
                <a:sym typeface="DG Jory"/>
              </a:rPr>
              <a:t>Suitable for smart infrastructure applications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grpSp>
        <p:nvGrpSpPr>
          <p:cNvPr name="Group 6" id="6"/>
          <p:cNvGrpSpPr/>
          <p:nvPr/>
        </p:nvGrpSpPr>
        <p:grpSpPr>
          <a:xfrm rot="0">
            <a:off x="3829156" y="344078"/>
            <a:ext cx="6082319" cy="1445234"/>
            <a:chOff x="0" y="0"/>
            <a:chExt cx="3420698" cy="812800"/>
          </a:xfrm>
        </p:grpSpPr>
        <p:sp>
          <p:nvSpPr>
            <p:cNvPr name="Freeform 7" id="7"/>
            <p:cNvSpPr/>
            <p:nvPr/>
          </p:nvSpPr>
          <p:spPr>
            <a:xfrm flipH="false" flipV="false" rot="0">
              <a:off x="0" y="0"/>
              <a:ext cx="3420698" cy="812800"/>
            </a:xfrm>
            <a:custGeom>
              <a:avLst/>
              <a:gdLst/>
              <a:ahLst/>
              <a:cxnLst/>
              <a:rect r="r" b="b" t="t" l="l"/>
              <a:pathLst>
                <a:path h="812800" w="3420698">
                  <a:moveTo>
                    <a:pt x="3420698" y="0"/>
                  </a:moveTo>
                  <a:lnTo>
                    <a:pt x="0" y="0"/>
                  </a:lnTo>
                  <a:lnTo>
                    <a:pt x="0" y="624840"/>
                  </a:lnTo>
                  <a:lnTo>
                    <a:pt x="157480" y="624840"/>
                  </a:lnTo>
                  <a:lnTo>
                    <a:pt x="157480" y="812800"/>
                  </a:lnTo>
                  <a:lnTo>
                    <a:pt x="463550" y="624840"/>
                  </a:lnTo>
                  <a:lnTo>
                    <a:pt x="3420698" y="624840"/>
                  </a:lnTo>
                  <a:lnTo>
                    <a:pt x="3420698" y="0"/>
                  </a:lnTo>
                  <a:close/>
                </a:path>
              </a:pathLst>
            </a:custGeom>
            <a:solidFill>
              <a:srgbClr val="9BDAE9"/>
            </a:solidFill>
            <a:ln cap="sq">
              <a:noFill/>
              <a:prstDash val="solid"/>
              <a:miter/>
            </a:ln>
          </p:spPr>
        </p:sp>
        <p:sp>
          <p:nvSpPr>
            <p:cNvPr name="TextBox 8" id="8"/>
            <p:cNvSpPr txBox="true"/>
            <p:nvPr/>
          </p:nvSpPr>
          <p:spPr>
            <a:xfrm>
              <a:off x="0" y="-47625"/>
              <a:ext cx="3420698" cy="669925"/>
            </a:xfrm>
            <a:prstGeom prst="rect">
              <a:avLst/>
            </a:prstGeom>
          </p:spPr>
          <p:txBody>
            <a:bodyPr anchor="ctr" rtlCol="false" tIns="50800" lIns="50800" bIns="50800" rIns="50800"/>
            <a:lstStyle/>
            <a:p>
              <a:pPr algn="ctr">
                <a:lnSpc>
                  <a:spcPts val="2659"/>
                </a:lnSpc>
              </a:pPr>
            </a:p>
          </p:txBody>
        </p:sp>
      </p:grpSp>
      <p:grpSp>
        <p:nvGrpSpPr>
          <p:cNvPr name="Group 9" id="9"/>
          <p:cNvGrpSpPr/>
          <p:nvPr/>
        </p:nvGrpSpPr>
        <p:grpSpPr>
          <a:xfrm rot="0">
            <a:off x="3945034" y="459956"/>
            <a:ext cx="5862754" cy="1445234"/>
            <a:chOff x="0" y="0"/>
            <a:chExt cx="3297215" cy="812800"/>
          </a:xfrm>
        </p:grpSpPr>
        <p:sp>
          <p:nvSpPr>
            <p:cNvPr name="Freeform 10" id="10"/>
            <p:cNvSpPr/>
            <p:nvPr/>
          </p:nvSpPr>
          <p:spPr>
            <a:xfrm flipH="false" flipV="false" rot="0">
              <a:off x="0" y="0"/>
              <a:ext cx="3297215" cy="812800"/>
            </a:xfrm>
            <a:custGeom>
              <a:avLst/>
              <a:gdLst/>
              <a:ahLst/>
              <a:cxnLst/>
              <a:rect r="r" b="b" t="t" l="l"/>
              <a:pathLst>
                <a:path h="812800" w="3297215">
                  <a:moveTo>
                    <a:pt x="3297215" y="0"/>
                  </a:moveTo>
                  <a:lnTo>
                    <a:pt x="0" y="0"/>
                  </a:lnTo>
                  <a:lnTo>
                    <a:pt x="0" y="624840"/>
                  </a:lnTo>
                  <a:lnTo>
                    <a:pt x="157480" y="624840"/>
                  </a:lnTo>
                  <a:lnTo>
                    <a:pt x="157480" y="812800"/>
                  </a:lnTo>
                  <a:lnTo>
                    <a:pt x="463550" y="624840"/>
                  </a:lnTo>
                  <a:lnTo>
                    <a:pt x="3297215" y="624840"/>
                  </a:lnTo>
                  <a:lnTo>
                    <a:pt x="3297215" y="0"/>
                  </a:lnTo>
                  <a:close/>
                </a:path>
              </a:pathLst>
            </a:custGeom>
            <a:ln w="66675" cap="sq">
              <a:solidFill>
                <a:srgbClr val="56C3D0"/>
              </a:solidFill>
              <a:prstDash val="solid"/>
              <a:miter/>
            </a:ln>
          </p:spPr>
        </p:sp>
        <p:sp>
          <p:nvSpPr>
            <p:cNvPr name="TextBox 11" id="11"/>
            <p:cNvSpPr txBox="true"/>
            <p:nvPr/>
          </p:nvSpPr>
          <p:spPr>
            <a:xfrm>
              <a:off x="0" y="-47625"/>
              <a:ext cx="3297215" cy="66992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3917631" y="771171"/>
            <a:ext cx="5993844" cy="600586"/>
          </a:xfrm>
          <a:prstGeom prst="rect">
            <a:avLst/>
          </a:prstGeom>
        </p:spPr>
        <p:txBody>
          <a:bodyPr anchor="t" rtlCol="false" tIns="0" lIns="0" bIns="0" rIns="0">
            <a:spAutoFit/>
          </a:bodyPr>
          <a:lstStyle/>
          <a:p>
            <a:pPr algn="ctr">
              <a:lnSpc>
                <a:spcPts val="4822"/>
              </a:lnSpc>
            </a:pPr>
            <a:r>
              <a:rPr lang="en-US" sz="4018">
                <a:solidFill>
                  <a:srgbClr val="000000"/>
                </a:solidFill>
                <a:latin typeface="League Spartan"/>
                <a:ea typeface="League Spartan"/>
                <a:cs typeface="League Spartan"/>
                <a:sym typeface="League Spartan"/>
              </a:rPr>
              <a:t>DEMO SCREENSHOTS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4476082" y="-2456372"/>
            <a:ext cx="7360133" cy="6664266"/>
          </a:xfrm>
          <a:custGeom>
            <a:avLst/>
            <a:gdLst/>
            <a:ahLst/>
            <a:cxnLst/>
            <a:rect r="r" b="b" t="t" l="l"/>
            <a:pathLst>
              <a:path h="6664266" w="7360133">
                <a:moveTo>
                  <a:pt x="7360133" y="6664267"/>
                </a:moveTo>
                <a:lnTo>
                  <a:pt x="0" y="6664267"/>
                </a:lnTo>
                <a:lnTo>
                  <a:pt x="0" y="0"/>
                </a:lnTo>
                <a:lnTo>
                  <a:pt x="7360133" y="0"/>
                </a:lnTo>
                <a:lnTo>
                  <a:pt x="7360133" y="6664267"/>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2884051" y="2356079"/>
            <a:ext cx="13140936" cy="6902221"/>
          </a:xfrm>
          <a:prstGeom prst="rect">
            <a:avLst/>
          </a:prstGeom>
        </p:spPr>
        <p:txBody>
          <a:bodyPr anchor="t" rtlCol="false" tIns="0" lIns="0" bIns="0" rIns="0">
            <a:spAutoFit/>
          </a:bodyPr>
          <a:lstStyle/>
          <a:p>
            <a:pPr algn="l">
              <a:lnSpc>
                <a:spcPts val="3865"/>
              </a:lnSpc>
            </a:pPr>
            <a:r>
              <a:rPr lang="en-US" sz="2760">
                <a:solidFill>
                  <a:srgbClr val="000000"/>
                </a:solidFill>
                <a:latin typeface="DG Jory"/>
                <a:ea typeface="DG Jory"/>
                <a:cs typeface="DG Jory"/>
                <a:sym typeface="DG Jory"/>
              </a:rPr>
              <a:t>The developed system was tested by applying pressure to the kinetic energy harvesting tile to simulate human footsteps.</a:t>
            </a:r>
          </a:p>
          <a:p>
            <a:pPr algn="l">
              <a:lnSpc>
                <a:spcPts val="4152"/>
              </a:lnSpc>
            </a:pPr>
            <a:r>
              <a:rPr lang="en-US" sz="2966" b="true">
                <a:solidFill>
                  <a:srgbClr val="000000"/>
                </a:solidFill>
                <a:latin typeface="DG Jory Bold"/>
                <a:ea typeface="DG Jory Bold"/>
                <a:cs typeface="DG Jory Bold"/>
                <a:sym typeface="DG Jory Bold"/>
              </a:rPr>
              <a:t>Observations</a:t>
            </a:r>
          </a:p>
          <a:p>
            <a:pPr algn="l" marL="596046" indent="-298023" lvl="1">
              <a:lnSpc>
                <a:spcPts val="3865"/>
              </a:lnSpc>
              <a:buFont typeface="Arial"/>
              <a:buChar char="•"/>
            </a:pPr>
            <a:r>
              <a:rPr lang="en-US" sz="2760">
                <a:solidFill>
                  <a:srgbClr val="000000"/>
                </a:solidFill>
                <a:latin typeface="DG Jory"/>
                <a:ea typeface="DG Jory"/>
                <a:cs typeface="DG Jory"/>
                <a:sym typeface="DG Jory"/>
              </a:rPr>
              <a:t>The tile successfully generated electrical voltage when pressure was applied.</a:t>
            </a:r>
          </a:p>
          <a:p>
            <a:pPr algn="l" marL="596046" indent="-298023" lvl="1">
              <a:lnSpc>
                <a:spcPts val="3865"/>
              </a:lnSpc>
              <a:buFont typeface="Arial"/>
              <a:buChar char="•"/>
            </a:pPr>
            <a:r>
              <a:rPr lang="en-US" sz="2760">
                <a:solidFill>
                  <a:srgbClr val="000000"/>
                </a:solidFill>
                <a:latin typeface="DG Jory"/>
                <a:ea typeface="DG Jory"/>
                <a:cs typeface="DG Jory"/>
                <a:sym typeface="DG Jory"/>
              </a:rPr>
              <a:t>The ESP32 microcontroller accurately measured the generated voltage using its ADC.</a:t>
            </a:r>
          </a:p>
          <a:p>
            <a:pPr algn="l" marL="596046" indent="-298023" lvl="1">
              <a:lnSpc>
                <a:spcPts val="3865"/>
              </a:lnSpc>
              <a:buFont typeface="Arial"/>
              <a:buChar char="•"/>
            </a:pPr>
            <a:r>
              <a:rPr lang="en-US" sz="2760">
                <a:solidFill>
                  <a:srgbClr val="000000"/>
                </a:solidFill>
                <a:latin typeface="DG Jory"/>
                <a:ea typeface="DG Jory"/>
                <a:cs typeface="DG Jory"/>
                <a:sym typeface="DG Jory"/>
              </a:rPr>
              <a:t>Voltage data was transmitted wirelessly through the ESP32 Wi-Fi module.</a:t>
            </a:r>
          </a:p>
          <a:p>
            <a:pPr algn="l" marL="596046" indent="-298023" lvl="1">
              <a:lnSpc>
                <a:spcPts val="3865"/>
              </a:lnSpc>
              <a:buFont typeface="Arial"/>
              <a:buChar char="•"/>
            </a:pPr>
            <a:r>
              <a:rPr lang="en-US" sz="2760">
                <a:solidFill>
                  <a:srgbClr val="000000"/>
                </a:solidFill>
                <a:latin typeface="DG Jory"/>
                <a:ea typeface="DG Jory"/>
                <a:cs typeface="DG Jory"/>
                <a:sym typeface="DG Jory"/>
              </a:rPr>
              <a:t>The web dashboard displayed real-time voltage updates and graphical visualization without noticeable delay.</a:t>
            </a:r>
          </a:p>
          <a:p>
            <a:pPr algn="l">
              <a:lnSpc>
                <a:spcPts val="4152"/>
              </a:lnSpc>
            </a:pPr>
            <a:r>
              <a:rPr lang="en-US" sz="2966" b="true">
                <a:solidFill>
                  <a:srgbClr val="000000"/>
                </a:solidFill>
                <a:latin typeface="DG Jory Bold"/>
                <a:ea typeface="DG Jory Bold"/>
                <a:cs typeface="DG Jory Bold"/>
                <a:sym typeface="DG Jory Bold"/>
              </a:rPr>
              <a:t>Performance Results</a:t>
            </a:r>
          </a:p>
          <a:p>
            <a:pPr algn="l" marL="596046" indent="-298023" lvl="1">
              <a:lnSpc>
                <a:spcPts val="3865"/>
              </a:lnSpc>
              <a:buFont typeface="Arial"/>
              <a:buChar char="•"/>
            </a:pPr>
            <a:r>
              <a:rPr lang="en-US" sz="2760">
                <a:solidFill>
                  <a:srgbClr val="000000"/>
                </a:solidFill>
                <a:latin typeface="DG Jory"/>
                <a:ea typeface="DG Jory"/>
                <a:cs typeface="DG Jory"/>
                <a:sym typeface="DG Jory"/>
              </a:rPr>
              <a:t>Generated voltage range: Approximately 10–15 V during footstep activation</a:t>
            </a:r>
          </a:p>
          <a:p>
            <a:pPr algn="l" marL="596046" indent="-298023" lvl="1">
              <a:lnSpc>
                <a:spcPts val="3865"/>
              </a:lnSpc>
              <a:buFont typeface="Arial"/>
              <a:buChar char="•"/>
            </a:pPr>
            <a:r>
              <a:rPr lang="en-US" sz="2760">
                <a:solidFill>
                  <a:srgbClr val="000000"/>
                </a:solidFill>
                <a:latin typeface="DG Jory"/>
                <a:ea typeface="DG Jory"/>
                <a:cs typeface="DG Jory"/>
                <a:sym typeface="DG Jory"/>
              </a:rPr>
              <a:t>Stable Wi-Fi communication between ESP32 and the dashboard</a:t>
            </a:r>
          </a:p>
          <a:p>
            <a:pPr algn="l" marL="596046" indent="-298023" lvl="1">
              <a:lnSpc>
                <a:spcPts val="3865"/>
              </a:lnSpc>
              <a:buFont typeface="Arial"/>
              <a:buChar char="•"/>
            </a:pPr>
            <a:r>
              <a:rPr lang="en-US" sz="2760">
                <a:solidFill>
                  <a:srgbClr val="000000"/>
                </a:solidFill>
                <a:latin typeface="DG Jory"/>
                <a:ea typeface="DG Jory"/>
                <a:cs typeface="DG Jory"/>
                <a:sym typeface="DG Jory"/>
              </a:rPr>
              <a:t>Continuous real-time monitoring of generated energy</a:t>
            </a:r>
          </a:p>
          <a:p>
            <a:pPr algn="l" marL="596046" indent="-298023" lvl="1">
              <a:lnSpc>
                <a:spcPts val="3865"/>
              </a:lnSpc>
              <a:buFont typeface="Arial"/>
              <a:buChar char="•"/>
            </a:pPr>
            <a:r>
              <a:rPr lang="en-US" sz="2760">
                <a:solidFill>
                  <a:srgbClr val="000000"/>
                </a:solidFill>
                <a:latin typeface="DG Jory"/>
                <a:ea typeface="DG Jory"/>
                <a:cs typeface="DG Jory"/>
                <a:sym typeface="DG Jory"/>
              </a:rPr>
              <a:t>Reliable system response during repeated footstep tests</a:t>
            </a:r>
          </a:p>
          <a:p>
            <a:pPr algn="l">
              <a:lnSpc>
                <a:spcPts val="3865"/>
              </a:lnSpc>
            </a:pPr>
          </a:p>
        </p:txBody>
      </p:sp>
      <p:grpSp>
        <p:nvGrpSpPr>
          <p:cNvPr name="Group 7" id="7"/>
          <p:cNvGrpSpPr/>
          <p:nvPr/>
        </p:nvGrpSpPr>
        <p:grpSpPr>
          <a:xfrm rot="0">
            <a:off x="3680067" y="263055"/>
            <a:ext cx="4478748" cy="1325008"/>
            <a:chOff x="0" y="0"/>
            <a:chExt cx="2747400" cy="812800"/>
          </a:xfrm>
        </p:grpSpPr>
        <p:sp>
          <p:nvSpPr>
            <p:cNvPr name="Freeform 8" id="8"/>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solidFill>
              <a:srgbClr val="9BDAE9"/>
            </a:solidFill>
            <a:ln cap="sq">
              <a:noFill/>
              <a:prstDash val="solid"/>
              <a:miter/>
            </a:ln>
          </p:spPr>
        </p:sp>
        <p:sp>
          <p:nvSpPr>
            <p:cNvPr name="TextBox 9" id="9"/>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3786305" y="369293"/>
            <a:ext cx="4478748" cy="1325008"/>
            <a:chOff x="0" y="0"/>
            <a:chExt cx="2747400" cy="812800"/>
          </a:xfrm>
        </p:grpSpPr>
        <p:sp>
          <p:nvSpPr>
            <p:cNvPr name="Freeform 11" id="11"/>
            <p:cNvSpPr/>
            <p:nvPr/>
          </p:nvSpPr>
          <p:spPr>
            <a:xfrm flipH="false" flipV="false" rot="0">
              <a:off x="0" y="0"/>
              <a:ext cx="2747400" cy="812800"/>
            </a:xfrm>
            <a:custGeom>
              <a:avLst/>
              <a:gdLst/>
              <a:ahLst/>
              <a:cxnLst/>
              <a:rect r="r" b="b" t="t" l="l"/>
              <a:pathLst>
                <a:path h="812800" w="2747400">
                  <a:moveTo>
                    <a:pt x="2747400" y="0"/>
                  </a:moveTo>
                  <a:lnTo>
                    <a:pt x="0" y="0"/>
                  </a:lnTo>
                  <a:lnTo>
                    <a:pt x="0" y="624840"/>
                  </a:lnTo>
                  <a:lnTo>
                    <a:pt x="157480" y="624840"/>
                  </a:lnTo>
                  <a:lnTo>
                    <a:pt x="157480" y="812800"/>
                  </a:lnTo>
                  <a:lnTo>
                    <a:pt x="463550" y="624840"/>
                  </a:lnTo>
                  <a:lnTo>
                    <a:pt x="2747400" y="624840"/>
                  </a:lnTo>
                  <a:lnTo>
                    <a:pt x="2747400" y="0"/>
                  </a:lnTo>
                  <a:close/>
                </a:path>
              </a:pathLst>
            </a:custGeom>
            <a:ln w="66675" cap="sq">
              <a:solidFill>
                <a:srgbClr val="56C3D0"/>
              </a:solidFill>
              <a:prstDash val="solid"/>
              <a:miter/>
            </a:ln>
          </p:spPr>
        </p:sp>
        <p:sp>
          <p:nvSpPr>
            <p:cNvPr name="TextBox 12" id="12"/>
            <p:cNvSpPr txBox="true"/>
            <p:nvPr/>
          </p:nvSpPr>
          <p:spPr>
            <a:xfrm>
              <a:off x="0" y="-47625"/>
              <a:ext cx="2747400" cy="6699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3761182" y="645886"/>
            <a:ext cx="4503872" cy="559357"/>
          </a:xfrm>
          <a:prstGeom prst="rect">
            <a:avLst/>
          </a:prstGeom>
        </p:spPr>
        <p:txBody>
          <a:bodyPr anchor="t" rtlCol="false" tIns="0" lIns="0" bIns="0" rIns="0">
            <a:spAutoFit/>
          </a:bodyPr>
          <a:lstStyle/>
          <a:p>
            <a:pPr algn="ctr">
              <a:lnSpc>
                <a:spcPts val="4421"/>
              </a:lnSpc>
            </a:pPr>
            <a:r>
              <a:rPr lang="en-US" sz="3684">
                <a:solidFill>
                  <a:srgbClr val="000000"/>
                </a:solidFill>
                <a:latin typeface="League Spartan"/>
                <a:ea typeface="League Spartan"/>
                <a:cs typeface="League Spartan"/>
                <a:sym typeface="League Spartan"/>
              </a:rPr>
              <a:t>RESULTS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4476082" y="-2456372"/>
            <a:ext cx="7360133" cy="6664266"/>
          </a:xfrm>
          <a:custGeom>
            <a:avLst/>
            <a:gdLst/>
            <a:ahLst/>
            <a:cxnLst/>
            <a:rect r="r" b="b" t="t" l="l"/>
            <a:pathLst>
              <a:path h="6664266" w="7360133">
                <a:moveTo>
                  <a:pt x="7360133" y="6664267"/>
                </a:moveTo>
                <a:lnTo>
                  <a:pt x="0" y="6664267"/>
                </a:lnTo>
                <a:lnTo>
                  <a:pt x="0" y="0"/>
                </a:lnTo>
                <a:lnTo>
                  <a:pt x="7360133" y="0"/>
                </a:lnTo>
                <a:lnTo>
                  <a:pt x="7360133" y="6664267"/>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2884051" y="2356079"/>
            <a:ext cx="13140936" cy="5865392"/>
          </a:xfrm>
          <a:prstGeom prst="rect">
            <a:avLst/>
          </a:prstGeom>
        </p:spPr>
        <p:txBody>
          <a:bodyPr anchor="t" rtlCol="false" tIns="0" lIns="0" bIns="0" rIns="0">
            <a:spAutoFit/>
          </a:bodyPr>
          <a:lstStyle/>
          <a:p>
            <a:pPr algn="l">
              <a:lnSpc>
                <a:spcPts val="3865"/>
              </a:lnSpc>
            </a:pPr>
            <a:r>
              <a:rPr lang="en-US" sz="2760">
                <a:solidFill>
                  <a:srgbClr val="000000"/>
                </a:solidFill>
                <a:latin typeface="DG Jory"/>
                <a:ea typeface="DG Jory"/>
                <a:cs typeface="DG Jory"/>
                <a:sym typeface="DG Jory"/>
              </a:rPr>
              <a:t>The project successfully demonstrates a smart energy harvesting system that captures human footstep en</a:t>
            </a:r>
            <a:r>
              <a:rPr lang="en-US" sz="2760">
                <a:solidFill>
                  <a:srgbClr val="000000"/>
                </a:solidFill>
                <a:latin typeface="DG Jory"/>
                <a:ea typeface="DG Jory"/>
                <a:cs typeface="DG Jory"/>
                <a:sym typeface="DG Jory"/>
              </a:rPr>
              <a:t>er</a:t>
            </a:r>
            <a:r>
              <a:rPr lang="en-US" sz="2760">
                <a:solidFill>
                  <a:srgbClr val="000000"/>
                </a:solidFill>
                <a:latin typeface="DG Jory"/>
                <a:ea typeface="DG Jory"/>
                <a:cs typeface="DG Jory"/>
                <a:sym typeface="DG Jory"/>
              </a:rPr>
              <a:t>gy </a:t>
            </a:r>
            <a:r>
              <a:rPr lang="en-US" sz="2760">
                <a:solidFill>
                  <a:srgbClr val="000000"/>
                </a:solidFill>
                <a:latin typeface="DG Jory"/>
                <a:ea typeface="DG Jory"/>
                <a:cs typeface="DG Jory"/>
                <a:sym typeface="DG Jory"/>
              </a:rPr>
              <a:t>a</a:t>
            </a:r>
            <a:r>
              <a:rPr lang="en-US" sz="2760">
                <a:solidFill>
                  <a:srgbClr val="000000"/>
                </a:solidFill>
                <a:latin typeface="DG Jory"/>
                <a:ea typeface="DG Jory"/>
                <a:cs typeface="DG Jory"/>
                <a:sym typeface="DG Jory"/>
              </a:rPr>
              <a:t>nd mon</a:t>
            </a:r>
            <a:r>
              <a:rPr lang="en-US" sz="2760">
                <a:solidFill>
                  <a:srgbClr val="000000"/>
                </a:solidFill>
                <a:latin typeface="DG Jory"/>
                <a:ea typeface="DG Jory"/>
                <a:cs typeface="DG Jory"/>
                <a:sym typeface="DG Jory"/>
              </a:rPr>
              <a:t>i</a:t>
            </a:r>
            <a:r>
              <a:rPr lang="en-US" sz="2760">
                <a:solidFill>
                  <a:srgbClr val="000000"/>
                </a:solidFill>
                <a:latin typeface="DG Jory"/>
                <a:ea typeface="DG Jory"/>
                <a:cs typeface="DG Jory"/>
                <a:sym typeface="DG Jory"/>
              </a:rPr>
              <a:t>t</a:t>
            </a:r>
            <a:r>
              <a:rPr lang="en-US" sz="2760">
                <a:solidFill>
                  <a:srgbClr val="000000"/>
                </a:solidFill>
                <a:latin typeface="DG Jory"/>
                <a:ea typeface="DG Jory"/>
                <a:cs typeface="DG Jory"/>
                <a:sym typeface="DG Jory"/>
              </a:rPr>
              <a:t>o</a:t>
            </a:r>
            <a:r>
              <a:rPr lang="en-US" sz="2760">
                <a:solidFill>
                  <a:srgbClr val="000000"/>
                </a:solidFill>
                <a:latin typeface="DG Jory"/>
                <a:ea typeface="DG Jory"/>
                <a:cs typeface="DG Jory"/>
                <a:sym typeface="DG Jory"/>
              </a:rPr>
              <a:t>r</a:t>
            </a:r>
            <a:r>
              <a:rPr lang="en-US" sz="2760">
                <a:solidFill>
                  <a:srgbClr val="000000"/>
                </a:solidFill>
                <a:latin typeface="DG Jory"/>
                <a:ea typeface="DG Jory"/>
                <a:cs typeface="DG Jory"/>
                <a:sym typeface="DG Jory"/>
              </a:rPr>
              <a:t>s</a:t>
            </a:r>
            <a:r>
              <a:rPr lang="en-US" sz="2760">
                <a:solidFill>
                  <a:srgbClr val="000000"/>
                </a:solidFill>
                <a:latin typeface="DG Jory"/>
                <a:ea typeface="DG Jory"/>
                <a:cs typeface="DG Jory"/>
                <a:sym typeface="DG Jory"/>
              </a:rPr>
              <a:t> it using IoT technology. By integrating ESP32 with a web-based dashboard, the system provides real-time visibility of generated energy.</a:t>
            </a:r>
          </a:p>
          <a:p>
            <a:pPr algn="l">
              <a:lnSpc>
                <a:spcPts val="3865"/>
              </a:lnSpc>
            </a:pPr>
            <a:r>
              <a:rPr lang="en-US" sz="2760">
                <a:solidFill>
                  <a:srgbClr val="000000"/>
                </a:solidFill>
                <a:latin typeface="DG Jory"/>
                <a:ea typeface="DG Jory"/>
                <a:cs typeface="DG Jory"/>
                <a:sym typeface="DG Jory"/>
              </a:rPr>
              <a:t>This approach can contribute to sustainable energy solutions in smart buildings and public infrastructure.</a:t>
            </a:r>
          </a:p>
          <a:p>
            <a:pPr algn="l">
              <a:lnSpc>
                <a:spcPts val="3865"/>
              </a:lnSpc>
            </a:pPr>
          </a:p>
          <a:p>
            <a:pPr algn="l">
              <a:lnSpc>
                <a:spcPts val="3865"/>
              </a:lnSpc>
            </a:pPr>
            <a:r>
              <a:rPr lang="en-US" sz="2760">
                <a:solidFill>
                  <a:srgbClr val="000000"/>
                </a:solidFill>
                <a:latin typeface="DG Jory"/>
                <a:ea typeface="DG Jory"/>
                <a:cs typeface="DG Jory"/>
                <a:sym typeface="DG Jory"/>
              </a:rPr>
              <a:t>Future Scope</a:t>
            </a:r>
          </a:p>
          <a:p>
            <a:pPr algn="l">
              <a:lnSpc>
                <a:spcPts val="3865"/>
              </a:lnSpc>
            </a:pPr>
            <a:r>
              <a:rPr lang="en-US" sz="2760">
                <a:solidFill>
                  <a:srgbClr val="000000"/>
                </a:solidFill>
                <a:latin typeface="DG Jory"/>
                <a:ea typeface="DG Jory"/>
                <a:cs typeface="DG Jory"/>
                <a:sym typeface="DG Jory"/>
              </a:rPr>
              <a:t>The syst</a:t>
            </a:r>
            <a:r>
              <a:rPr lang="en-US" sz="2760">
                <a:solidFill>
                  <a:srgbClr val="000000"/>
                </a:solidFill>
                <a:latin typeface="DG Jory"/>
                <a:ea typeface="DG Jory"/>
                <a:cs typeface="DG Jory"/>
                <a:sym typeface="DG Jory"/>
              </a:rPr>
              <a:t>em</a:t>
            </a:r>
            <a:r>
              <a:rPr lang="en-US" sz="2760">
                <a:solidFill>
                  <a:srgbClr val="000000"/>
                </a:solidFill>
                <a:latin typeface="DG Jory"/>
                <a:ea typeface="DG Jory"/>
                <a:cs typeface="DG Jory"/>
                <a:sym typeface="DG Jory"/>
              </a:rPr>
              <a:t> c</a:t>
            </a:r>
            <a:r>
              <a:rPr lang="en-US" sz="2760">
                <a:solidFill>
                  <a:srgbClr val="000000"/>
                </a:solidFill>
                <a:latin typeface="DG Jory"/>
                <a:ea typeface="DG Jory"/>
                <a:cs typeface="DG Jory"/>
                <a:sym typeface="DG Jory"/>
              </a:rPr>
              <a:t>an </a:t>
            </a:r>
            <a:r>
              <a:rPr lang="en-US" sz="2760">
                <a:solidFill>
                  <a:srgbClr val="000000"/>
                </a:solidFill>
                <a:latin typeface="DG Jory"/>
                <a:ea typeface="DG Jory"/>
                <a:cs typeface="DG Jory"/>
                <a:sym typeface="DG Jory"/>
              </a:rPr>
              <a:t>b</a:t>
            </a:r>
            <a:r>
              <a:rPr lang="en-US" sz="2760">
                <a:solidFill>
                  <a:srgbClr val="000000"/>
                </a:solidFill>
                <a:latin typeface="DG Jory"/>
                <a:ea typeface="DG Jory"/>
                <a:cs typeface="DG Jory"/>
                <a:sym typeface="DG Jory"/>
              </a:rPr>
              <a:t>e</a:t>
            </a:r>
            <a:r>
              <a:rPr lang="en-US" sz="2760">
                <a:solidFill>
                  <a:srgbClr val="000000"/>
                </a:solidFill>
                <a:latin typeface="DG Jory"/>
                <a:ea typeface="DG Jory"/>
                <a:cs typeface="DG Jory"/>
                <a:sym typeface="DG Jory"/>
              </a:rPr>
              <a:t> f</a:t>
            </a:r>
            <a:r>
              <a:rPr lang="en-US" sz="2760">
                <a:solidFill>
                  <a:srgbClr val="000000"/>
                </a:solidFill>
                <a:latin typeface="DG Jory"/>
                <a:ea typeface="DG Jory"/>
                <a:cs typeface="DG Jory"/>
                <a:sym typeface="DG Jory"/>
              </a:rPr>
              <a:t>u</a:t>
            </a:r>
            <a:r>
              <a:rPr lang="en-US" sz="2760">
                <a:solidFill>
                  <a:srgbClr val="000000"/>
                </a:solidFill>
                <a:latin typeface="DG Jory"/>
                <a:ea typeface="DG Jory"/>
                <a:cs typeface="DG Jory"/>
                <a:sym typeface="DG Jory"/>
              </a:rPr>
              <a:t>r</a:t>
            </a:r>
            <a:r>
              <a:rPr lang="en-US" sz="2760">
                <a:solidFill>
                  <a:srgbClr val="000000"/>
                </a:solidFill>
                <a:latin typeface="DG Jory"/>
                <a:ea typeface="DG Jory"/>
                <a:cs typeface="DG Jory"/>
                <a:sym typeface="DG Jory"/>
              </a:rPr>
              <a:t>t</a:t>
            </a:r>
            <a:r>
              <a:rPr lang="en-US" sz="2760">
                <a:solidFill>
                  <a:srgbClr val="000000"/>
                </a:solidFill>
                <a:latin typeface="DG Jory"/>
                <a:ea typeface="DG Jory"/>
                <a:cs typeface="DG Jory"/>
                <a:sym typeface="DG Jory"/>
              </a:rPr>
              <a:t>her </a:t>
            </a:r>
            <a:r>
              <a:rPr lang="en-US" sz="2760">
                <a:solidFill>
                  <a:srgbClr val="000000"/>
                </a:solidFill>
                <a:latin typeface="DG Jory"/>
                <a:ea typeface="DG Jory"/>
                <a:cs typeface="DG Jory"/>
                <a:sym typeface="DG Jory"/>
              </a:rPr>
              <a:t>enhanced by:</a:t>
            </a:r>
          </a:p>
          <a:p>
            <a:pPr algn="l" marL="596046" indent="-298023" lvl="1">
              <a:lnSpc>
                <a:spcPts val="3865"/>
              </a:lnSpc>
              <a:buFont typeface="Arial"/>
              <a:buChar char="•"/>
            </a:pPr>
            <a:r>
              <a:rPr lang="en-US" sz="2760">
                <a:solidFill>
                  <a:srgbClr val="000000"/>
                </a:solidFill>
                <a:latin typeface="DG Jory"/>
                <a:ea typeface="DG Jory"/>
                <a:cs typeface="DG Jory"/>
                <a:sym typeface="DG Jory"/>
              </a:rPr>
              <a:t>Integrating energy storage systems such as batteries or capacitors</a:t>
            </a:r>
          </a:p>
          <a:p>
            <a:pPr algn="l" marL="596046" indent="-298023" lvl="1">
              <a:lnSpc>
                <a:spcPts val="3865"/>
              </a:lnSpc>
              <a:buFont typeface="Arial"/>
              <a:buChar char="•"/>
            </a:pPr>
            <a:r>
              <a:rPr lang="en-US" sz="2760">
                <a:solidFill>
                  <a:srgbClr val="000000"/>
                </a:solidFill>
                <a:latin typeface="DG Jory"/>
                <a:ea typeface="DG Jory"/>
                <a:cs typeface="DG Jory"/>
                <a:sym typeface="DG Jory"/>
              </a:rPr>
              <a:t>Imp</a:t>
            </a:r>
            <a:r>
              <a:rPr lang="en-US" sz="2760">
                <a:solidFill>
                  <a:srgbClr val="000000"/>
                </a:solidFill>
                <a:latin typeface="DG Jory"/>
                <a:ea typeface="DG Jory"/>
                <a:cs typeface="DG Jory"/>
                <a:sym typeface="DG Jory"/>
              </a:rPr>
              <a:t>lementing footstep counting and energy analytics</a:t>
            </a:r>
          </a:p>
          <a:p>
            <a:pPr algn="l" marL="596046" indent="-298023" lvl="1">
              <a:lnSpc>
                <a:spcPts val="3865"/>
              </a:lnSpc>
              <a:buFont typeface="Arial"/>
              <a:buChar char="•"/>
            </a:pPr>
            <a:r>
              <a:rPr lang="en-US" sz="2760">
                <a:solidFill>
                  <a:srgbClr val="000000"/>
                </a:solidFill>
                <a:latin typeface="DG Jory"/>
                <a:ea typeface="DG Jory"/>
                <a:cs typeface="DG Jory"/>
                <a:sym typeface="DG Jory"/>
              </a:rPr>
              <a:t>Increasing the number of tiles for higher energy generation</a:t>
            </a:r>
          </a:p>
          <a:p>
            <a:pPr algn="l" marL="596046" indent="-298023" lvl="1">
              <a:lnSpc>
                <a:spcPts val="3865"/>
              </a:lnSpc>
              <a:buFont typeface="Arial"/>
              <a:buChar char="•"/>
            </a:pPr>
            <a:r>
              <a:rPr lang="en-US" sz="2760">
                <a:solidFill>
                  <a:srgbClr val="000000"/>
                </a:solidFill>
                <a:latin typeface="DG Jory"/>
                <a:ea typeface="DG Jory"/>
                <a:cs typeface="DG Jory"/>
                <a:sym typeface="DG Jory"/>
              </a:rPr>
              <a:t>Adding mobile app monitoring</a:t>
            </a:r>
          </a:p>
        </p:txBody>
      </p:sp>
      <p:grpSp>
        <p:nvGrpSpPr>
          <p:cNvPr name="Group 7" id="7"/>
          <p:cNvGrpSpPr/>
          <p:nvPr/>
        </p:nvGrpSpPr>
        <p:grpSpPr>
          <a:xfrm rot="0">
            <a:off x="3680067" y="263055"/>
            <a:ext cx="8292704" cy="1325008"/>
            <a:chOff x="0" y="0"/>
            <a:chExt cx="5086996" cy="812800"/>
          </a:xfrm>
        </p:grpSpPr>
        <p:sp>
          <p:nvSpPr>
            <p:cNvPr name="Freeform 8" id="8"/>
            <p:cNvSpPr/>
            <p:nvPr/>
          </p:nvSpPr>
          <p:spPr>
            <a:xfrm flipH="false" flipV="false" rot="0">
              <a:off x="0" y="0"/>
              <a:ext cx="5086996" cy="812800"/>
            </a:xfrm>
            <a:custGeom>
              <a:avLst/>
              <a:gdLst/>
              <a:ahLst/>
              <a:cxnLst/>
              <a:rect r="r" b="b" t="t" l="l"/>
              <a:pathLst>
                <a:path h="812800" w="5086996">
                  <a:moveTo>
                    <a:pt x="5086996" y="0"/>
                  </a:moveTo>
                  <a:lnTo>
                    <a:pt x="0" y="0"/>
                  </a:lnTo>
                  <a:lnTo>
                    <a:pt x="0" y="624840"/>
                  </a:lnTo>
                  <a:lnTo>
                    <a:pt x="157480" y="624840"/>
                  </a:lnTo>
                  <a:lnTo>
                    <a:pt x="157480" y="812800"/>
                  </a:lnTo>
                  <a:lnTo>
                    <a:pt x="463550" y="624840"/>
                  </a:lnTo>
                  <a:lnTo>
                    <a:pt x="5086996" y="624840"/>
                  </a:lnTo>
                  <a:lnTo>
                    <a:pt x="5086996" y="0"/>
                  </a:lnTo>
                  <a:close/>
                </a:path>
              </a:pathLst>
            </a:custGeom>
            <a:solidFill>
              <a:srgbClr val="9BDAE9"/>
            </a:solidFill>
            <a:ln cap="sq">
              <a:noFill/>
              <a:prstDash val="solid"/>
              <a:miter/>
            </a:ln>
          </p:spPr>
        </p:sp>
        <p:sp>
          <p:nvSpPr>
            <p:cNvPr name="TextBox 9" id="9"/>
            <p:cNvSpPr txBox="true"/>
            <p:nvPr/>
          </p:nvSpPr>
          <p:spPr>
            <a:xfrm>
              <a:off x="0" y="-47625"/>
              <a:ext cx="5086996" cy="66992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3786305" y="369293"/>
            <a:ext cx="8041065" cy="1325008"/>
            <a:chOff x="0" y="0"/>
            <a:chExt cx="4932633" cy="812800"/>
          </a:xfrm>
        </p:grpSpPr>
        <p:sp>
          <p:nvSpPr>
            <p:cNvPr name="Freeform 11" id="11"/>
            <p:cNvSpPr/>
            <p:nvPr/>
          </p:nvSpPr>
          <p:spPr>
            <a:xfrm flipH="false" flipV="false" rot="0">
              <a:off x="0" y="0"/>
              <a:ext cx="4932633" cy="812800"/>
            </a:xfrm>
            <a:custGeom>
              <a:avLst/>
              <a:gdLst/>
              <a:ahLst/>
              <a:cxnLst/>
              <a:rect r="r" b="b" t="t" l="l"/>
              <a:pathLst>
                <a:path h="812800" w="4932633">
                  <a:moveTo>
                    <a:pt x="4932633" y="0"/>
                  </a:moveTo>
                  <a:lnTo>
                    <a:pt x="0" y="0"/>
                  </a:lnTo>
                  <a:lnTo>
                    <a:pt x="0" y="624840"/>
                  </a:lnTo>
                  <a:lnTo>
                    <a:pt x="157480" y="624840"/>
                  </a:lnTo>
                  <a:lnTo>
                    <a:pt x="157480" y="812800"/>
                  </a:lnTo>
                  <a:lnTo>
                    <a:pt x="463550" y="624840"/>
                  </a:lnTo>
                  <a:lnTo>
                    <a:pt x="4932633" y="624840"/>
                  </a:lnTo>
                  <a:lnTo>
                    <a:pt x="4932633" y="0"/>
                  </a:lnTo>
                  <a:close/>
                </a:path>
              </a:pathLst>
            </a:custGeom>
            <a:ln w="66675" cap="sq">
              <a:solidFill>
                <a:srgbClr val="56C3D0"/>
              </a:solidFill>
              <a:prstDash val="solid"/>
              <a:miter/>
            </a:ln>
          </p:spPr>
        </p:sp>
        <p:sp>
          <p:nvSpPr>
            <p:cNvPr name="TextBox 12" id="12"/>
            <p:cNvSpPr txBox="true"/>
            <p:nvPr/>
          </p:nvSpPr>
          <p:spPr>
            <a:xfrm>
              <a:off x="0" y="-47625"/>
              <a:ext cx="4932633" cy="669925"/>
            </a:xfrm>
            <a:prstGeom prst="rect">
              <a:avLst/>
            </a:prstGeom>
          </p:spPr>
          <p:txBody>
            <a:bodyPr anchor="ctr" rtlCol="false" tIns="50800" lIns="50800" bIns="50800" rIns="50800"/>
            <a:lstStyle/>
            <a:p>
              <a:pPr algn="ctr">
                <a:lnSpc>
                  <a:spcPts val="2659"/>
                </a:lnSpc>
              </a:pPr>
            </a:p>
          </p:txBody>
        </p:sp>
      </p:grpSp>
      <p:sp>
        <p:nvSpPr>
          <p:cNvPr name="TextBox 13" id="13"/>
          <p:cNvSpPr txBox="true"/>
          <p:nvPr/>
        </p:nvSpPr>
        <p:spPr>
          <a:xfrm rot="0">
            <a:off x="3761182" y="645886"/>
            <a:ext cx="8211589" cy="559357"/>
          </a:xfrm>
          <a:prstGeom prst="rect">
            <a:avLst/>
          </a:prstGeom>
        </p:spPr>
        <p:txBody>
          <a:bodyPr anchor="t" rtlCol="false" tIns="0" lIns="0" bIns="0" rIns="0">
            <a:spAutoFit/>
          </a:bodyPr>
          <a:lstStyle/>
          <a:p>
            <a:pPr algn="ctr">
              <a:lnSpc>
                <a:spcPts val="4421"/>
              </a:lnSpc>
            </a:pPr>
            <a:r>
              <a:rPr lang="en-US" sz="3684">
                <a:solidFill>
                  <a:srgbClr val="000000"/>
                </a:solidFill>
                <a:latin typeface="League Spartan"/>
                <a:ea typeface="League Spartan"/>
                <a:cs typeface="League Spartan"/>
                <a:sym typeface="League Spartan"/>
              </a:rPr>
              <a:t>CONCLUSION &amp; FUTURE SCOPE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3680067" y="4897467"/>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4607933" y="-1261755"/>
            <a:ext cx="7360133" cy="6664266"/>
          </a:xfrm>
          <a:custGeom>
            <a:avLst/>
            <a:gdLst/>
            <a:ahLst/>
            <a:cxnLst/>
            <a:rect r="r" b="b" t="t" l="l"/>
            <a:pathLst>
              <a:path h="6664266" w="7360133">
                <a:moveTo>
                  <a:pt x="7360134" y="6664267"/>
                </a:moveTo>
                <a:lnTo>
                  <a:pt x="0" y="6664267"/>
                </a:lnTo>
                <a:lnTo>
                  <a:pt x="0" y="0"/>
                </a:lnTo>
                <a:lnTo>
                  <a:pt x="7360134" y="0"/>
                </a:lnTo>
                <a:lnTo>
                  <a:pt x="7360134" y="666426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757022" y="6029979"/>
            <a:ext cx="7360133" cy="6664266"/>
          </a:xfrm>
          <a:custGeom>
            <a:avLst/>
            <a:gdLst/>
            <a:ahLst/>
            <a:cxnLst/>
            <a:rect r="r" b="b" t="t" l="l"/>
            <a:pathLst>
              <a:path h="6664266" w="7360133">
                <a:moveTo>
                  <a:pt x="0" y="0"/>
                </a:moveTo>
                <a:lnTo>
                  <a:pt x="7360134" y="0"/>
                </a:lnTo>
                <a:lnTo>
                  <a:pt x="7360134" y="6664266"/>
                </a:lnTo>
                <a:lnTo>
                  <a:pt x="0" y="66642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Freeform 5" id="5"/>
          <p:cNvSpPr/>
          <p:nvPr/>
        </p:nvSpPr>
        <p:spPr>
          <a:xfrm flipH="true" flipV="true" rot="0">
            <a:off x="-3530978" y="-2407245"/>
            <a:ext cx="7360133" cy="6664266"/>
          </a:xfrm>
          <a:custGeom>
            <a:avLst/>
            <a:gdLst/>
            <a:ahLst/>
            <a:cxnLst/>
            <a:rect r="r" b="b" t="t" l="l"/>
            <a:pathLst>
              <a:path h="6664266" w="7360133">
                <a:moveTo>
                  <a:pt x="7360134" y="6664266"/>
                </a:moveTo>
                <a:lnTo>
                  <a:pt x="0" y="6664266"/>
                </a:lnTo>
                <a:lnTo>
                  <a:pt x="0" y="0"/>
                </a:lnTo>
                <a:lnTo>
                  <a:pt x="7360134" y="0"/>
                </a:lnTo>
                <a:lnTo>
                  <a:pt x="7360134" y="6664266"/>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6" id="6"/>
          <p:cNvSpPr txBox="true"/>
          <p:nvPr/>
        </p:nvSpPr>
        <p:spPr>
          <a:xfrm rot="0">
            <a:off x="4751838" y="4153209"/>
            <a:ext cx="8784324" cy="1261363"/>
          </a:xfrm>
          <a:prstGeom prst="rect">
            <a:avLst/>
          </a:prstGeom>
        </p:spPr>
        <p:txBody>
          <a:bodyPr anchor="t" rtlCol="false" tIns="0" lIns="0" bIns="0" rIns="0">
            <a:spAutoFit/>
          </a:bodyPr>
          <a:lstStyle/>
          <a:p>
            <a:pPr algn="ctr" marL="0" indent="0" lvl="0">
              <a:lnSpc>
                <a:spcPts val="10012"/>
              </a:lnSpc>
              <a:spcBef>
                <a:spcPct val="0"/>
              </a:spcBef>
            </a:pPr>
            <a:r>
              <a:rPr lang="en-US" b="true" sz="8344" strike="noStrike" u="none">
                <a:solidFill>
                  <a:srgbClr val="000000"/>
                </a:solidFill>
                <a:latin typeface="League Spartan"/>
                <a:ea typeface="League Spartan"/>
                <a:cs typeface="League Spartan"/>
                <a:sym typeface="League Spart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DAHDSbxc4IA</dc:identifier>
  <dcterms:modified xsi:type="dcterms:W3CDTF">2011-08-01T06:04:30Z</dcterms:modified>
  <cp:revision>1</cp:revision>
  <dc:title>Non Text Magic Studio Magic Design for Presentations L&amp;P</dc:title>
</cp:coreProperties>
</file>